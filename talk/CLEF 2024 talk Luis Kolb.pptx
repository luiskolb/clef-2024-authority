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25"/>
  </p:notesMasterIdLst>
  <p:sldIdLst>
    <p:sldId id="256" r:id="rId2"/>
    <p:sldId id="257" r:id="rId3"/>
    <p:sldId id="274" r:id="rId4"/>
    <p:sldId id="277" r:id="rId5"/>
    <p:sldId id="259" r:id="rId6"/>
    <p:sldId id="278" r:id="rId7"/>
    <p:sldId id="276" r:id="rId8"/>
    <p:sldId id="260" r:id="rId9"/>
    <p:sldId id="275" r:id="rId10"/>
    <p:sldId id="261" r:id="rId11"/>
    <p:sldId id="283" r:id="rId12"/>
    <p:sldId id="266" r:id="rId13"/>
    <p:sldId id="270" r:id="rId14"/>
    <p:sldId id="271" r:id="rId15"/>
    <p:sldId id="267" r:id="rId16"/>
    <p:sldId id="268" r:id="rId17"/>
    <p:sldId id="281" r:id="rId18"/>
    <p:sldId id="269" r:id="rId19"/>
    <p:sldId id="280" r:id="rId20"/>
    <p:sldId id="272" r:id="rId21"/>
    <p:sldId id="282" r:id="rId22"/>
    <p:sldId id="265" r:id="rId23"/>
    <p:sldId id="27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8165A0-8051-412E-BC9D-487F86FBB3BA}" v="78" dt="2024-09-04T16:48:18.06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8" autoAdjust="0"/>
    <p:restoredTop sz="92494" autoAdjust="0"/>
  </p:normalViewPr>
  <p:slideViewPr>
    <p:cSldViewPr snapToGrid="0">
      <p:cViewPr varScale="1">
        <p:scale>
          <a:sx n="102" d="100"/>
          <a:sy n="102" d="100"/>
        </p:scale>
        <p:origin x="666"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T"/>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BD401B-D4A8-4898-8F84-9494CF2831B3}" type="datetimeFigureOut">
              <a:rPr lang="en-AT" smtClean="0"/>
              <a:t>4 Sep 2024</a:t>
            </a:fld>
            <a:endParaRPr lang="en-AT"/>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T"/>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AT"/>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T"/>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EC79C-4F4E-40A6-BD42-D4E6BA83A575}" type="slidenum">
              <a:rPr lang="en-AT" smtClean="0"/>
              <a:t>‹Nr.›</a:t>
            </a:fld>
            <a:endParaRPr lang="en-AT"/>
          </a:p>
        </p:txBody>
      </p:sp>
    </p:spTree>
    <p:extLst>
      <p:ext uri="{BB962C8B-B14F-4D97-AF65-F5344CB8AC3E}">
        <p14:creationId xmlns:p14="http://schemas.microsoft.com/office/powerpoint/2010/main" val="563421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AT" dirty="0"/>
          </a:p>
        </p:txBody>
      </p:sp>
      <p:sp>
        <p:nvSpPr>
          <p:cNvPr id="4" name="Foliennummernplatzhalter 3"/>
          <p:cNvSpPr>
            <a:spLocks noGrp="1"/>
          </p:cNvSpPr>
          <p:nvPr>
            <p:ph type="sldNum" sz="quarter" idx="5"/>
          </p:nvPr>
        </p:nvSpPr>
        <p:spPr/>
        <p:txBody>
          <a:bodyPr/>
          <a:lstStyle/>
          <a:p>
            <a:fld id="{4B7EC79C-4F4E-40A6-BD42-D4E6BA83A575}" type="slidenum">
              <a:rPr lang="en-AT" smtClean="0"/>
              <a:t>1</a:t>
            </a:fld>
            <a:endParaRPr lang="en-AT" dirty="0"/>
          </a:p>
        </p:txBody>
      </p:sp>
    </p:spTree>
    <p:extLst>
      <p:ext uri="{BB962C8B-B14F-4D97-AF65-F5344CB8AC3E}">
        <p14:creationId xmlns:p14="http://schemas.microsoft.com/office/powerpoint/2010/main" val="1706637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This is our approach, and I’ll walk you through it as we move through this talk.</a:t>
            </a:r>
            <a:endParaRPr lang="en-AT" dirty="0"/>
          </a:p>
        </p:txBody>
      </p:sp>
      <p:sp>
        <p:nvSpPr>
          <p:cNvPr id="4" name="Foliennummernplatzhalter 3"/>
          <p:cNvSpPr>
            <a:spLocks noGrp="1"/>
          </p:cNvSpPr>
          <p:nvPr>
            <p:ph type="sldNum" sz="quarter" idx="5"/>
          </p:nvPr>
        </p:nvSpPr>
        <p:spPr/>
        <p:txBody>
          <a:bodyPr/>
          <a:lstStyle/>
          <a:p>
            <a:fld id="{4B7EC79C-4F4E-40A6-BD42-D4E6BA83A575}" type="slidenum">
              <a:rPr lang="en-AT" smtClean="0"/>
              <a:t>3</a:t>
            </a:fld>
            <a:endParaRPr lang="en-AT"/>
          </a:p>
        </p:txBody>
      </p:sp>
    </p:spTree>
    <p:extLst>
      <p:ext uri="{BB962C8B-B14F-4D97-AF65-F5344CB8AC3E}">
        <p14:creationId xmlns:p14="http://schemas.microsoft.com/office/powerpoint/2010/main" val="3003147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First off, let’s start with the data. You’re already familiar with the task, so let’s just get a quick look at the data.</a:t>
            </a:r>
            <a:endParaRPr lang="en-AT" dirty="0"/>
          </a:p>
        </p:txBody>
      </p:sp>
      <p:sp>
        <p:nvSpPr>
          <p:cNvPr id="4" name="Foliennummernplatzhalter 3"/>
          <p:cNvSpPr>
            <a:spLocks noGrp="1"/>
          </p:cNvSpPr>
          <p:nvPr>
            <p:ph type="sldNum" sz="quarter" idx="5"/>
          </p:nvPr>
        </p:nvSpPr>
        <p:spPr/>
        <p:txBody>
          <a:bodyPr/>
          <a:lstStyle/>
          <a:p>
            <a:fld id="{4B7EC79C-4F4E-40A6-BD42-D4E6BA83A575}" type="slidenum">
              <a:rPr lang="en-AT" smtClean="0"/>
              <a:t>4</a:t>
            </a:fld>
            <a:endParaRPr lang="en-AT"/>
          </a:p>
        </p:txBody>
      </p:sp>
    </p:spTree>
    <p:extLst>
      <p:ext uri="{BB962C8B-B14F-4D97-AF65-F5344CB8AC3E}">
        <p14:creationId xmlns:p14="http://schemas.microsoft.com/office/powerpoint/2010/main" val="96271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This is what a rumor from the dataset looks like…</a:t>
            </a:r>
            <a:endParaRPr lang="en-AT" dirty="0"/>
          </a:p>
        </p:txBody>
      </p:sp>
      <p:sp>
        <p:nvSpPr>
          <p:cNvPr id="4" name="Foliennummernplatzhalter 3"/>
          <p:cNvSpPr>
            <a:spLocks noGrp="1"/>
          </p:cNvSpPr>
          <p:nvPr>
            <p:ph type="sldNum" sz="quarter" idx="5"/>
          </p:nvPr>
        </p:nvSpPr>
        <p:spPr/>
        <p:txBody>
          <a:bodyPr/>
          <a:lstStyle/>
          <a:p>
            <a:fld id="{4B7EC79C-4F4E-40A6-BD42-D4E6BA83A575}" type="slidenum">
              <a:rPr lang="en-AT" smtClean="0"/>
              <a:t>5</a:t>
            </a:fld>
            <a:endParaRPr lang="en-AT"/>
          </a:p>
        </p:txBody>
      </p:sp>
    </p:spTree>
    <p:extLst>
      <p:ext uri="{BB962C8B-B14F-4D97-AF65-F5344CB8AC3E}">
        <p14:creationId xmlns:p14="http://schemas.microsoft.com/office/powerpoint/2010/main" val="1367182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…but we can get some extra data from here. The claim is “anonymous”, but the Authority Account is not. So, we got the Display Name and Bio from Twitter, and wanted to see if we can improve results.</a:t>
            </a:r>
          </a:p>
          <a:p>
            <a:r>
              <a:rPr lang="en-US" dirty="0"/>
              <a:t>We can also test if preprocessing could be beneficial.</a:t>
            </a:r>
            <a:endParaRPr lang="en-AT" dirty="0"/>
          </a:p>
        </p:txBody>
      </p:sp>
      <p:sp>
        <p:nvSpPr>
          <p:cNvPr id="4" name="Foliennummernplatzhalter 3"/>
          <p:cNvSpPr>
            <a:spLocks noGrp="1"/>
          </p:cNvSpPr>
          <p:nvPr>
            <p:ph type="sldNum" sz="quarter" idx="5"/>
          </p:nvPr>
        </p:nvSpPr>
        <p:spPr/>
        <p:txBody>
          <a:bodyPr/>
          <a:lstStyle/>
          <a:p>
            <a:fld id="{4B7EC79C-4F4E-40A6-BD42-D4E6BA83A575}" type="slidenum">
              <a:rPr lang="en-AT" smtClean="0"/>
              <a:t>6</a:t>
            </a:fld>
            <a:endParaRPr lang="en-AT"/>
          </a:p>
        </p:txBody>
      </p:sp>
    </p:spTree>
    <p:extLst>
      <p:ext uri="{BB962C8B-B14F-4D97-AF65-F5344CB8AC3E}">
        <p14:creationId xmlns:p14="http://schemas.microsoft.com/office/powerpoint/2010/main" val="2963399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Once we have the timelines ready, we need to pick our Evidence we can use later. This is the Retrieval step. Let’s take a look.</a:t>
            </a:r>
            <a:endParaRPr lang="en-AT" dirty="0"/>
          </a:p>
        </p:txBody>
      </p:sp>
      <p:sp>
        <p:nvSpPr>
          <p:cNvPr id="4" name="Foliennummernplatzhalter 3"/>
          <p:cNvSpPr>
            <a:spLocks noGrp="1"/>
          </p:cNvSpPr>
          <p:nvPr>
            <p:ph type="sldNum" sz="quarter" idx="5"/>
          </p:nvPr>
        </p:nvSpPr>
        <p:spPr/>
        <p:txBody>
          <a:bodyPr/>
          <a:lstStyle/>
          <a:p>
            <a:fld id="{4B7EC79C-4F4E-40A6-BD42-D4E6BA83A575}" type="slidenum">
              <a:rPr lang="en-AT" smtClean="0"/>
              <a:t>7</a:t>
            </a:fld>
            <a:endParaRPr lang="en-AT"/>
          </a:p>
        </p:txBody>
      </p:sp>
    </p:spTree>
    <p:extLst>
      <p:ext uri="{BB962C8B-B14F-4D97-AF65-F5344CB8AC3E}">
        <p14:creationId xmlns:p14="http://schemas.microsoft.com/office/powerpoint/2010/main" val="4215059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I’ve participated in this shared task as part of my Master’s Thesis, as such I’ve made some more findings since…</a:t>
            </a:r>
            <a:endParaRPr lang="en-AT" dirty="0"/>
          </a:p>
        </p:txBody>
      </p:sp>
      <p:sp>
        <p:nvSpPr>
          <p:cNvPr id="4" name="Foliennummernplatzhalter 3"/>
          <p:cNvSpPr>
            <a:spLocks noGrp="1"/>
          </p:cNvSpPr>
          <p:nvPr>
            <p:ph type="sldNum" sz="quarter" idx="5"/>
          </p:nvPr>
        </p:nvSpPr>
        <p:spPr/>
        <p:txBody>
          <a:bodyPr/>
          <a:lstStyle/>
          <a:p>
            <a:fld id="{4B7EC79C-4F4E-40A6-BD42-D4E6BA83A575}" type="slidenum">
              <a:rPr lang="en-AT" smtClean="0"/>
              <a:t>18</a:t>
            </a:fld>
            <a:endParaRPr lang="en-AT"/>
          </a:p>
        </p:txBody>
      </p:sp>
    </p:spTree>
    <p:extLst>
      <p:ext uri="{BB962C8B-B14F-4D97-AF65-F5344CB8AC3E}">
        <p14:creationId xmlns:p14="http://schemas.microsoft.com/office/powerpoint/2010/main" val="3232905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I’ve participated in this shared task as part of my Master’s Thesis, as such I’ve made some more findings since…</a:t>
            </a:r>
            <a:endParaRPr lang="en-AT" dirty="0"/>
          </a:p>
        </p:txBody>
      </p:sp>
      <p:sp>
        <p:nvSpPr>
          <p:cNvPr id="4" name="Foliennummernplatzhalter 3"/>
          <p:cNvSpPr>
            <a:spLocks noGrp="1"/>
          </p:cNvSpPr>
          <p:nvPr>
            <p:ph type="sldNum" sz="quarter" idx="5"/>
          </p:nvPr>
        </p:nvSpPr>
        <p:spPr/>
        <p:txBody>
          <a:bodyPr/>
          <a:lstStyle/>
          <a:p>
            <a:fld id="{4B7EC79C-4F4E-40A6-BD42-D4E6BA83A575}" type="slidenum">
              <a:rPr lang="en-AT" smtClean="0"/>
              <a:t>19</a:t>
            </a:fld>
            <a:endParaRPr lang="en-AT"/>
          </a:p>
        </p:txBody>
      </p:sp>
    </p:spTree>
    <p:extLst>
      <p:ext uri="{BB962C8B-B14F-4D97-AF65-F5344CB8AC3E}">
        <p14:creationId xmlns:p14="http://schemas.microsoft.com/office/powerpoint/2010/main" val="1943403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fld id="{AD69E3B9-6DDF-4AE3-942F-197004E2B325}" type="datetime1">
              <a:rPr lang="en-US" smtClean="0"/>
              <a:t>9/4/2024</a:t>
            </a:fld>
            <a:endParaRPr lang="en-US"/>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‹Nr.›</a:t>
            </a:fld>
            <a:endParaRPr lang="en-US"/>
          </a:p>
        </p:txBody>
      </p:sp>
    </p:spTree>
    <p:extLst>
      <p:ext uri="{BB962C8B-B14F-4D97-AF65-F5344CB8AC3E}">
        <p14:creationId xmlns:p14="http://schemas.microsoft.com/office/powerpoint/2010/main" val="2031166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fld id="{BB50379A-DD18-42EC-9876-3DAAEF0B475E}" type="datetime1">
              <a:rPr lang="en-US" smtClean="0"/>
              <a:t>9/4/2024</a:t>
            </a:fld>
            <a:endParaRPr lang="en-US"/>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‹Nr.›</a:t>
            </a:fld>
            <a:endParaRPr lang="en-US"/>
          </a:p>
        </p:txBody>
      </p:sp>
    </p:spTree>
    <p:extLst>
      <p:ext uri="{BB962C8B-B14F-4D97-AF65-F5344CB8AC3E}">
        <p14:creationId xmlns:p14="http://schemas.microsoft.com/office/powerpoint/2010/main" val="1864593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fld id="{56B018B4-34DD-4FAD-860A-78BA2DDAC777}" type="datetime1">
              <a:rPr lang="en-US" smtClean="0"/>
              <a:t>9/4/2024</a:t>
            </a:fld>
            <a:endParaRPr lang="en-US"/>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‹Nr.›</a:t>
            </a:fld>
            <a:endParaRPr lang="en-US"/>
          </a:p>
        </p:txBody>
      </p:sp>
    </p:spTree>
    <p:extLst>
      <p:ext uri="{BB962C8B-B14F-4D97-AF65-F5344CB8AC3E}">
        <p14:creationId xmlns:p14="http://schemas.microsoft.com/office/powerpoint/2010/main" val="273564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fld id="{E93488C2-16FA-42E9-B56A-BBCEBB0C23B9}" type="datetime1">
              <a:rPr lang="en-US" smtClean="0"/>
              <a:t>9/4/2024</a:t>
            </a:fld>
            <a:endParaRPr lang="en-US"/>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‹Nr.›</a:t>
            </a:fld>
            <a:endParaRPr lang="en-US"/>
          </a:p>
        </p:txBody>
      </p:sp>
    </p:spTree>
    <p:extLst>
      <p:ext uri="{BB962C8B-B14F-4D97-AF65-F5344CB8AC3E}">
        <p14:creationId xmlns:p14="http://schemas.microsoft.com/office/powerpoint/2010/main" val="2209817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9836A149-B6DE-4D40-88CC-D5886D7EAC21}" type="datetime1">
              <a:rPr lang="en-US" smtClean="0"/>
              <a:t>9/4/2024</a:t>
            </a:fld>
            <a:endParaRPr lang="en-US"/>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‹Nr.›</a:t>
            </a:fld>
            <a:endParaRPr lang="en-US"/>
          </a:p>
        </p:txBody>
      </p:sp>
    </p:spTree>
    <p:extLst>
      <p:ext uri="{BB962C8B-B14F-4D97-AF65-F5344CB8AC3E}">
        <p14:creationId xmlns:p14="http://schemas.microsoft.com/office/powerpoint/2010/main" val="1191947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D0F60488-CF6A-4385-98C7-A97DBA2C1051}" type="datetime1">
              <a:rPr lang="en-US" smtClean="0"/>
              <a:t>9/4/2024</a:t>
            </a:fld>
            <a:endParaRPr lang="en-US"/>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‹Nr.›</a:t>
            </a:fld>
            <a:endParaRPr lang="en-US"/>
          </a:p>
        </p:txBody>
      </p:sp>
    </p:spTree>
    <p:extLst>
      <p:ext uri="{BB962C8B-B14F-4D97-AF65-F5344CB8AC3E}">
        <p14:creationId xmlns:p14="http://schemas.microsoft.com/office/powerpoint/2010/main" val="2600108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9B00AF08-1976-4C74-AFC2-4E4BBAFB4EF8}" type="datetime1">
              <a:rPr lang="en-US" smtClean="0"/>
              <a:t>9/4/2024</a:t>
            </a:fld>
            <a:endParaRPr lang="en-US"/>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‹Nr.›</a:t>
            </a:fld>
            <a:endParaRPr lang="en-US"/>
          </a:p>
        </p:txBody>
      </p:sp>
    </p:spTree>
    <p:extLst>
      <p:ext uri="{BB962C8B-B14F-4D97-AF65-F5344CB8AC3E}">
        <p14:creationId xmlns:p14="http://schemas.microsoft.com/office/powerpoint/2010/main" val="1352361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fld id="{ACA8A65E-3922-4D9A-8A42-4EE7C068417E}" type="datetime1">
              <a:rPr lang="en-US" smtClean="0"/>
              <a:t>9/4/2024</a:t>
            </a:fld>
            <a:endParaRPr lang="en-US"/>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‹Nr.›</a:t>
            </a:fld>
            <a:endParaRPr lang="en-US"/>
          </a:p>
        </p:txBody>
      </p:sp>
    </p:spTree>
    <p:extLst>
      <p:ext uri="{BB962C8B-B14F-4D97-AF65-F5344CB8AC3E}">
        <p14:creationId xmlns:p14="http://schemas.microsoft.com/office/powerpoint/2010/main" val="783256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fld id="{AF1DBBCE-1A87-49A5-8A8E-6ECA7D2CE351}" type="datetime1">
              <a:rPr lang="en-US" smtClean="0"/>
              <a:t>9/4/2024</a:t>
            </a:fld>
            <a:endParaRPr lang="en-US"/>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‹Nr.›</a:t>
            </a:fld>
            <a:endParaRPr lang="en-US"/>
          </a:p>
        </p:txBody>
      </p:sp>
    </p:spTree>
    <p:extLst>
      <p:ext uri="{BB962C8B-B14F-4D97-AF65-F5344CB8AC3E}">
        <p14:creationId xmlns:p14="http://schemas.microsoft.com/office/powerpoint/2010/main" val="882127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fld id="{B8FC674A-7C45-43C2-BAA2-664DA443B8BE}" type="datetime1">
              <a:rPr lang="en-US" smtClean="0"/>
              <a:t>9/4/2024</a:t>
            </a:fld>
            <a:endParaRPr lang="en-US"/>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‹Nr.›</a:t>
            </a:fld>
            <a:endParaRPr lang="en-US"/>
          </a:p>
        </p:txBody>
      </p:sp>
    </p:spTree>
    <p:extLst>
      <p:ext uri="{BB962C8B-B14F-4D97-AF65-F5344CB8AC3E}">
        <p14:creationId xmlns:p14="http://schemas.microsoft.com/office/powerpoint/2010/main" val="2564872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1F0D7-112D-48B1-B32B-170B1AA2B51E}"/>
              </a:ext>
            </a:extLst>
          </p:cNvPr>
          <p:cNvSpPr>
            <a:spLocks noGrp="1"/>
          </p:cNvSpPr>
          <p:nvPr>
            <p:ph type="title" orient="vert"/>
          </p:nvPr>
        </p:nvSpPr>
        <p:spPr>
          <a:xfrm>
            <a:off x="9143998" y="761999"/>
            <a:ext cx="2286000" cy="5334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7A7C1-8E5B-41DA-9802-F242D382B66B}"/>
              </a:ext>
            </a:extLst>
          </p:cNvPr>
          <p:cNvSpPr>
            <a:spLocks noGrp="1"/>
          </p:cNvSpPr>
          <p:nvPr>
            <p:ph type="body" orient="vert" idx="1"/>
          </p:nvPr>
        </p:nvSpPr>
        <p:spPr>
          <a:xfrm>
            <a:off x="762001" y="761999"/>
            <a:ext cx="7619999" cy="5334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61CC7-F5B1-464A-8127-60645FB21081}"/>
              </a:ext>
            </a:extLst>
          </p:cNvPr>
          <p:cNvSpPr>
            <a:spLocks noGrp="1"/>
          </p:cNvSpPr>
          <p:nvPr>
            <p:ph type="dt" sz="half" idx="10"/>
          </p:nvPr>
        </p:nvSpPr>
        <p:spPr/>
        <p:txBody>
          <a:bodyPr/>
          <a:lstStyle/>
          <a:p>
            <a:fld id="{0E28963E-B020-4BC6-82A4-3E04E380B704}" type="datetime1">
              <a:rPr lang="en-US" smtClean="0"/>
              <a:t>9/4/2024</a:t>
            </a:fld>
            <a:endParaRPr lang="en-US"/>
          </a:p>
        </p:txBody>
      </p:sp>
      <p:sp>
        <p:nvSpPr>
          <p:cNvPr id="5" name="Footer Placeholder 4">
            <a:extLst>
              <a:ext uri="{FF2B5EF4-FFF2-40B4-BE49-F238E27FC236}">
                <a16:creationId xmlns:a16="http://schemas.microsoft.com/office/drawing/2014/main" id="{53B94302-B381-4F37-A9FF-5CC551917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07151-541F-4104-B989-83A9DCA6E616}"/>
              </a:ext>
            </a:extLst>
          </p:cNvPr>
          <p:cNvSpPr>
            <a:spLocks noGrp="1"/>
          </p:cNvSpPr>
          <p:nvPr>
            <p:ph type="sldNum" sz="quarter" idx="12"/>
          </p:nvPr>
        </p:nvSpPr>
        <p:spPr/>
        <p:txBody>
          <a:bodyPr/>
          <a:lstStyle/>
          <a:p>
            <a:fld id="{07CE569E-9B7C-4CB9-AB80-C0841F922CFF}" type="slidenum">
              <a:rPr lang="en-US" smtClean="0"/>
              <a:t>‹Nr.›</a:t>
            </a:fld>
            <a:endParaRPr lang="en-US"/>
          </a:p>
        </p:txBody>
      </p:sp>
    </p:spTree>
    <p:extLst>
      <p:ext uri="{BB962C8B-B14F-4D97-AF65-F5344CB8AC3E}">
        <p14:creationId xmlns:p14="http://schemas.microsoft.com/office/powerpoint/2010/main" val="1441594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761999" y="136525"/>
            <a:ext cx="2040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fld id="{ED3A328E-E399-4DC7-9F95-168ED6EC86EB}" type="datetime1">
              <a:rPr lang="en-US" smtClean="0"/>
              <a:t>9/4/2024</a:t>
            </a:fld>
            <a:endParaRPr lang="en-US"/>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8801823"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‹Nr.›</a:t>
            </a:fld>
            <a:endParaRPr lang="en-US" dirty="0"/>
          </a:p>
        </p:txBody>
      </p:sp>
      <p:pic>
        <p:nvPicPr>
          <p:cNvPr id="9" name="Grafik 8" descr="Ein Bild, das Text, Schrift, Grafiken, Symbol enthält.&#10;&#10;Automatisch generierte Beschreibung">
            <a:extLst>
              <a:ext uri="{FF2B5EF4-FFF2-40B4-BE49-F238E27FC236}">
                <a16:creationId xmlns:a16="http://schemas.microsoft.com/office/drawing/2014/main" id="{319F53A8-4970-3219-50C6-D12F710DAD66}"/>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798320" y="106961"/>
            <a:ext cx="1263360" cy="421702"/>
          </a:xfrm>
          <a:prstGeom prst="rect">
            <a:avLst/>
          </a:prstGeom>
        </p:spPr>
      </p:pic>
    </p:spTree>
    <p:extLst>
      <p:ext uri="{BB962C8B-B14F-4D97-AF65-F5344CB8AC3E}">
        <p14:creationId xmlns:p14="http://schemas.microsoft.com/office/powerpoint/2010/main" val="3270129332"/>
      </p:ext>
    </p:extLst>
  </p:cSld>
  <p:clrMap bg1="dk1" tx1="lt1" bg2="dk2" tx2="lt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51" r:id="rId5"/>
    <p:sldLayoutId id="2147483752" r:id="rId6"/>
    <p:sldLayoutId id="2147483753" r:id="rId7"/>
    <p:sldLayoutId id="2147483754" r:id="rId8"/>
    <p:sldLayoutId id="2147483755" r:id="rId9"/>
    <p:sldLayoutId id="2147483756" r:id="rId10"/>
    <p:sldLayoutId id="214748375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alpha val="70000"/>
            </a:schemeClr>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2400" kern="1200">
          <a:solidFill>
            <a:schemeClr val="tx1">
              <a:alpha val="70000"/>
            </a:schemeClr>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2000" kern="1200">
          <a:solidFill>
            <a:schemeClr val="tx1">
              <a:alpha val="70000"/>
            </a:schemeClr>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hyperlink" Target="https://luiskolb.a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p:cNvSpPr>
            <a:spLocks noGrp="1"/>
          </p:cNvSpPr>
          <p:nvPr>
            <p:ph type="ctrTitle"/>
          </p:nvPr>
        </p:nvSpPr>
        <p:spPr>
          <a:xfrm>
            <a:off x="6096000" y="1523999"/>
            <a:ext cx="5334000" cy="2790825"/>
          </a:xfrm>
        </p:spPr>
        <p:txBody>
          <a:bodyPr>
            <a:normAutofit/>
          </a:bodyPr>
          <a:lstStyle/>
          <a:p>
            <a:pPr algn="l"/>
            <a:r>
              <a:rPr lang="en-US" sz="2800" dirty="0">
                <a:latin typeface="Bahnschrift"/>
                <a:cs typeface="Arial"/>
              </a:rPr>
              <a:t>AuthEv-LKolb at</a:t>
            </a:r>
            <a:br>
              <a:rPr lang="en-US" sz="3400" b="1" dirty="0">
                <a:latin typeface="Bahnschrift"/>
                <a:cs typeface="Arial"/>
              </a:rPr>
            </a:br>
            <a:r>
              <a:rPr lang="en-US" sz="3400" b="1" dirty="0">
                <a:latin typeface="Bahnschrift"/>
                <a:cs typeface="Arial"/>
              </a:rPr>
              <a:t>CheckThat! 2024 Task 5</a:t>
            </a:r>
            <a:br>
              <a:rPr lang="en-US" sz="3400" b="1" dirty="0">
                <a:latin typeface="Bahnschrift"/>
                <a:cs typeface="Arial"/>
              </a:rPr>
            </a:br>
            <a:endParaRPr lang="en-US" sz="3400" b="1" dirty="0">
              <a:latin typeface="Bahnschrift"/>
              <a:cs typeface="Arial"/>
            </a:endParaRPr>
          </a:p>
          <a:p>
            <a:pPr algn="l"/>
            <a:r>
              <a:rPr lang="en-US" sz="2800" dirty="0">
                <a:latin typeface="Bahnschrift"/>
                <a:ea typeface="+mj-lt"/>
                <a:cs typeface="+mj-lt"/>
              </a:rPr>
              <a:t>A Two-Stage Approach To Evidence-Based Social Media Claim Verification</a:t>
            </a:r>
            <a:endParaRPr lang="en-US" dirty="0">
              <a:latin typeface="Bahnschrift"/>
              <a:ea typeface="+mj-lt"/>
              <a:cs typeface="+mj-lt"/>
            </a:endParaRPr>
          </a:p>
        </p:txBody>
      </p:sp>
      <p:sp>
        <p:nvSpPr>
          <p:cNvPr id="3" name="Subtitle 2"/>
          <p:cNvSpPr>
            <a:spLocks noGrp="1"/>
          </p:cNvSpPr>
          <p:nvPr>
            <p:ph type="subTitle" idx="1"/>
          </p:nvPr>
        </p:nvSpPr>
        <p:spPr>
          <a:xfrm>
            <a:off x="6096000" y="4571999"/>
            <a:ext cx="5334000" cy="1524000"/>
          </a:xfrm>
        </p:spPr>
        <p:txBody>
          <a:bodyPr vert="horz" lIns="91440" tIns="45720" rIns="91440" bIns="45720" rtlCol="0" anchor="ctr">
            <a:normAutofit/>
          </a:bodyPr>
          <a:lstStyle/>
          <a:p>
            <a:pPr algn="l">
              <a:lnSpc>
                <a:spcPct val="100000"/>
              </a:lnSpc>
            </a:pPr>
            <a:r>
              <a:rPr lang="en-US" dirty="0">
                <a:solidFill>
                  <a:schemeClr val="bg1"/>
                </a:solidFill>
                <a:latin typeface="Bahnschrift"/>
                <a:cs typeface="Arial"/>
              </a:rPr>
              <a:t>Luis Kolb</a:t>
            </a:r>
            <a:r>
              <a:rPr lang="en-US" dirty="0">
                <a:latin typeface="Bahnschrift"/>
                <a:cs typeface="Arial"/>
              </a:rPr>
              <a:t>, Allan Hanbury </a:t>
            </a:r>
            <a:endParaRPr lang="de-DE" dirty="0">
              <a:solidFill>
                <a:srgbClr val="FFFFFF">
                  <a:alpha val="70000"/>
                </a:srgbClr>
              </a:solidFill>
              <a:latin typeface="Bahnschrift"/>
              <a:cs typeface="Arial"/>
            </a:endParaRPr>
          </a:p>
          <a:p>
            <a:pPr algn="l">
              <a:lnSpc>
                <a:spcPct val="100000"/>
              </a:lnSpc>
            </a:pPr>
            <a:r>
              <a:rPr lang="en-US" dirty="0">
                <a:latin typeface="Bahnschrift"/>
                <a:cs typeface="Arial"/>
              </a:rPr>
              <a:t>@ TU Wien (Austria)</a:t>
            </a:r>
            <a:endParaRPr lang="de-DE" dirty="0">
              <a:solidFill>
                <a:srgbClr val="FFFFFF">
                  <a:alpha val="70000"/>
                </a:srgbClr>
              </a:solidFill>
              <a:latin typeface="Bahnschrift"/>
            </a:endParaRPr>
          </a:p>
        </p:txBody>
      </p:sp>
      <p:pic>
        <p:nvPicPr>
          <p:cNvPr id="52" name="Picture 3">
            <a:extLst>
              <a:ext uri="{FF2B5EF4-FFF2-40B4-BE49-F238E27FC236}">
                <a16:creationId xmlns:a16="http://schemas.microsoft.com/office/drawing/2014/main" id="{B6ED0F51-6600-3167-9840-902A4376E5BE}"/>
              </a:ext>
            </a:extLst>
          </p:cNvPr>
          <p:cNvPicPr>
            <a:picLocks noChangeAspect="1"/>
          </p:cNvPicPr>
          <p:nvPr/>
        </p:nvPicPr>
        <p:blipFill>
          <a:blip r:embed="rId3"/>
          <a:srcRect r="1" b="7843"/>
          <a:stretch/>
        </p:blipFill>
        <p:spPr>
          <a:xfrm>
            <a:off x="2" y="732510"/>
            <a:ext cx="5333999" cy="6125491"/>
          </a:xfrm>
          <a:custGeom>
            <a:avLst/>
            <a:gdLst/>
            <a:ahLst/>
            <a:cxnLst/>
            <a:rect l="l" t="t" r="r" b="b"/>
            <a:pathLst>
              <a:path w="5333999" h="6125491">
                <a:moveTo>
                  <a:pt x="0" y="0"/>
                </a:moveTo>
                <a:lnTo>
                  <a:pt x="201347" y="12133"/>
                </a:lnTo>
                <a:cubicBezTo>
                  <a:pt x="834520" y="59989"/>
                  <a:pt x="1489622" y="165274"/>
                  <a:pt x="2149412" y="288819"/>
                </a:cubicBezTo>
                <a:cubicBezTo>
                  <a:pt x="4194087" y="671477"/>
                  <a:pt x="4738431" y="1884930"/>
                  <a:pt x="5125148" y="3309606"/>
                </a:cubicBezTo>
                <a:cubicBezTo>
                  <a:pt x="5383961" y="4263563"/>
                  <a:pt x="5599841" y="5130569"/>
                  <a:pt x="4496734" y="5829050"/>
                </a:cubicBezTo>
                <a:cubicBezTo>
                  <a:pt x="4342061" y="5927011"/>
                  <a:pt x="4177261" y="6012425"/>
                  <a:pt x="4005032" y="6088102"/>
                </a:cubicBezTo>
                <a:lnTo>
                  <a:pt x="3915032" y="6125491"/>
                </a:lnTo>
                <a:lnTo>
                  <a:pt x="0" y="6125491"/>
                </a:lnTo>
                <a:close/>
              </a:path>
            </a:pathLst>
          </a:custGeom>
        </p:spPr>
      </p:pic>
      <p:sp>
        <p:nvSpPr>
          <p:cNvPr id="59" name="Freeform: Shape 58">
            <a:extLst>
              <a:ext uri="{FF2B5EF4-FFF2-40B4-BE49-F238E27FC236}">
                <a16:creationId xmlns:a16="http://schemas.microsoft.com/office/drawing/2014/main" id="{4EB7CBBE-178B-4DB3-AD92-DED458BAE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52425"/>
            <a:ext cx="5185830" cy="650557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pic>
        <p:nvPicPr>
          <p:cNvPr id="8" name="Grafik 7" descr="Ein Bild, das Text, Schrift, Grafiken, Symbol enthält.&#10;&#10;Automatisch generierte Beschreibung">
            <a:extLst>
              <a:ext uri="{FF2B5EF4-FFF2-40B4-BE49-F238E27FC236}">
                <a16:creationId xmlns:a16="http://schemas.microsoft.com/office/drawing/2014/main" id="{767C62DC-AFD5-E53A-DD19-16583B46E67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98320" y="106961"/>
            <a:ext cx="1263360" cy="421702"/>
          </a:xfrm>
          <a:prstGeom prst="rect">
            <a:avLst/>
          </a:prstGeom>
        </p:spPr>
      </p:pic>
      <p:pic>
        <p:nvPicPr>
          <p:cNvPr id="5" name="Grafik 4" descr="Ein Bild, das Text, Schrift, Screenshot, Logo enthält.&#10;&#10;Automatisch generierte Beschreibung">
            <a:extLst>
              <a:ext uri="{FF2B5EF4-FFF2-40B4-BE49-F238E27FC236}">
                <a16:creationId xmlns:a16="http://schemas.microsoft.com/office/drawing/2014/main" id="{9D13973A-30B2-59B3-CAD7-A575762DAC3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845547" y="4971947"/>
            <a:ext cx="1905545" cy="724107"/>
          </a:xfrm>
          <a:prstGeom prst="rect">
            <a:avLst/>
          </a:prstGeom>
        </p:spPr>
      </p:pic>
      <p:sp>
        <p:nvSpPr>
          <p:cNvPr id="4" name="Foliennummernplatzhalter 3">
            <a:extLst>
              <a:ext uri="{FF2B5EF4-FFF2-40B4-BE49-F238E27FC236}">
                <a16:creationId xmlns:a16="http://schemas.microsoft.com/office/drawing/2014/main" id="{13641A04-BCB8-0DF4-CD24-4D2871C17A7D}"/>
              </a:ext>
            </a:extLst>
          </p:cNvPr>
          <p:cNvSpPr>
            <a:spLocks noGrp="1"/>
          </p:cNvSpPr>
          <p:nvPr>
            <p:ph type="sldNum" sz="quarter" idx="12"/>
          </p:nvPr>
        </p:nvSpPr>
        <p:spPr/>
        <p:txBody>
          <a:bodyPr/>
          <a:lstStyle/>
          <a:p>
            <a:fld id="{07CE569E-9B7C-4CB9-AB80-C0841F922CFF}"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1E0137-5EC7-C39C-EC12-99BAA1CE0CDC}"/>
              </a:ext>
            </a:extLst>
          </p:cNvPr>
          <p:cNvSpPr>
            <a:spLocks noGrp="1"/>
          </p:cNvSpPr>
          <p:nvPr>
            <p:ph type="title"/>
          </p:nvPr>
        </p:nvSpPr>
        <p:spPr/>
        <p:txBody>
          <a:bodyPr/>
          <a:lstStyle/>
          <a:p>
            <a:r>
              <a:rPr lang="en-US" dirty="0"/>
              <a:t>Briefly, an Overview</a:t>
            </a:r>
            <a:endParaRPr lang="de-DE" dirty="0"/>
          </a:p>
        </p:txBody>
      </p:sp>
      <p:sp>
        <p:nvSpPr>
          <p:cNvPr id="3" name="Inhaltsplatzhalter 2">
            <a:extLst>
              <a:ext uri="{FF2B5EF4-FFF2-40B4-BE49-F238E27FC236}">
                <a16:creationId xmlns:a16="http://schemas.microsoft.com/office/drawing/2014/main" id="{5D15506C-77D6-8457-5EAA-30BEC1B75333}"/>
              </a:ext>
            </a:extLst>
          </p:cNvPr>
          <p:cNvSpPr>
            <a:spLocks noGrp="1"/>
          </p:cNvSpPr>
          <p:nvPr>
            <p:ph idx="1"/>
          </p:nvPr>
        </p:nvSpPr>
        <p:spPr/>
        <p:txBody>
          <a:bodyPr>
            <a:normAutofit lnSpcReduction="10000"/>
          </a:bodyPr>
          <a:lstStyle/>
          <a:p>
            <a:r>
              <a:rPr lang="en-US" dirty="0"/>
              <a:t>We already heard about the task – what was our approach?</a:t>
            </a:r>
          </a:p>
          <a:p>
            <a:r>
              <a:rPr lang="en-US" dirty="0"/>
              <a:t>Experiment with Retrieval Approaches</a:t>
            </a:r>
          </a:p>
          <a:p>
            <a:r>
              <a:rPr lang="en-US" dirty="0"/>
              <a:t>See if LLMs hold any promise for Verification</a:t>
            </a:r>
          </a:p>
          <a:p>
            <a:r>
              <a:rPr lang="en-US" dirty="0"/>
              <a:t>Experiment with NLP Methods for Retrieval &amp; Verification</a:t>
            </a:r>
          </a:p>
          <a:p>
            <a:r>
              <a:rPr lang="en-US" dirty="0"/>
              <a:t>We don’t train a model, but approach this in a zero-shot fashion</a:t>
            </a:r>
          </a:p>
          <a:p>
            <a:r>
              <a:rPr lang="en-US" dirty="0"/>
              <a:t>“Authority” != Government Account (possible, but not necessary)</a:t>
            </a:r>
          </a:p>
        </p:txBody>
      </p:sp>
      <p:sp>
        <p:nvSpPr>
          <p:cNvPr id="4" name="Foliennummernplatzhalter 3">
            <a:extLst>
              <a:ext uri="{FF2B5EF4-FFF2-40B4-BE49-F238E27FC236}">
                <a16:creationId xmlns:a16="http://schemas.microsoft.com/office/drawing/2014/main" id="{D784CB23-B913-E43A-7D25-5F5BE6778974}"/>
              </a:ext>
            </a:extLst>
          </p:cNvPr>
          <p:cNvSpPr>
            <a:spLocks noGrp="1"/>
          </p:cNvSpPr>
          <p:nvPr>
            <p:ph type="sldNum" sz="quarter" idx="12"/>
          </p:nvPr>
        </p:nvSpPr>
        <p:spPr/>
        <p:txBody>
          <a:bodyPr/>
          <a:lstStyle/>
          <a:p>
            <a:fld id="{07CE569E-9B7C-4CB9-AB80-C0841F922CFF}" type="slidenum">
              <a:rPr lang="en-US" smtClean="0"/>
              <a:t>2</a:t>
            </a:fld>
            <a:endParaRPr lang="en-US"/>
          </a:p>
        </p:txBody>
      </p:sp>
    </p:spTree>
    <p:extLst>
      <p:ext uri="{BB962C8B-B14F-4D97-AF65-F5344CB8AC3E}">
        <p14:creationId xmlns:p14="http://schemas.microsoft.com/office/powerpoint/2010/main" val="696101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B3AFA3-A8A7-A543-825B-130570B0FDB1}"/>
              </a:ext>
            </a:extLst>
          </p:cNvPr>
          <p:cNvSpPr>
            <a:spLocks noGrp="1"/>
          </p:cNvSpPr>
          <p:nvPr>
            <p:ph type="title"/>
          </p:nvPr>
        </p:nvSpPr>
        <p:spPr>
          <a:xfrm>
            <a:off x="761999" y="762000"/>
            <a:ext cx="10848975" cy="1524000"/>
          </a:xfrm>
        </p:spPr>
        <p:txBody>
          <a:bodyPr/>
          <a:lstStyle/>
          <a:p>
            <a:r>
              <a:rPr lang="en-US" dirty="0"/>
              <a:t>Our Two-Stage Approach (and task recap)</a:t>
            </a:r>
            <a:endParaRPr lang="de-DE" dirty="0"/>
          </a:p>
        </p:txBody>
      </p:sp>
      <p:pic>
        <p:nvPicPr>
          <p:cNvPr id="6" name="Inhaltsplatzhalter 5" descr="Ein Bild, das Text, Screenshot, Diagramm, Schrift enthält.&#10;&#10;Automatisch generierte Beschreibung">
            <a:extLst>
              <a:ext uri="{FF2B5EF4-FFF2-40B4-BE49-F238E27FC236}">
                <a16:creationId xmlns:a16="http://schemas.microsoft.com/office/drawing/2014/main" id="{D57F5F0E-80EF-004C-AA5C-2A040F36250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39400" y="2201862"/>
            <a:ext cx="8494172" cy="3817938"/>
          </a:xfrm>
        </p:spPr>
      </p:pic>
      <p:sp>
        <p:nvSpPr>
          <p:cNvPr id="3" name="Foliennummernplatzhalter 2">
            <a:extLst>
              <a:ext uri="{FF2B5EF4-FFF2-40B4-BE49-F238E27FC236}">
                <a16:creationId xmlns:a16="http://schemas.microsoft.com/office/drawing/2014/main" id="{F5D51A93-86C1-A4F8-CD9A-190F3D273E83}"/>
              </a:ext>
            </a:extLst>
          </p:cNvPr>
          <p:cNvSpPr>
            <a:spLocks noGrp="1"/>
          </p:cNvSpPr>
          <p:nvPr>
            <p:ph type="sldNum" sz="quarter" idx="12"/>
          </p:nvPr>
        </p:nvSpPr>
        <p:spPr/>
        <p:txBody>
          <a:bodyPr/>
          <a:lstStyle/>
          <a:p>
            <a:fld id="{07CE569E-9B7C-4CB9-AB80-C0841F922CFF}" type="slidenum">
              <a:rPr lang="en-US" smtClean="0"/>
              <a:t>3</a:t>
            </a:fld>
            <a:endParaRPr lang="en-US"/>
          </a:p>
        </p:txBody>
      </p:sp>
    </p:spTree>
    <p:extLst>
      <p:ext uri="{BB962C8B-B14F-4D97-AF65-F5344CB8AC3E}">
        <p14:creationId xmlns:p14="http://schemas.microsoft.com/office/powerpoint/2010/main" val="493291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B3AFA3-A8A7-A543-825B-130570B0FDB1}"/>
              </a:ext>
            </a:extLst>
          </p:cNvPr>
          <p:cNvSpPr>
            <a:spLocks noGrp="1"/>
          </p:cNvSpPr>
          <p:nvPr>
            <p:ph type="title"/>
          </p:nvPr>
        </p:nvSpPr>
        <p:spPr>
          <a:xfrm>
            <a:off x="761999" y="762000"/>
            <a:ext cx="10848975" cy="1524000"/>
          </a:xfrm>
        </p:spPr>
        <p:txBody>
          <a:bodyPr/>
          <a:lstStyle/>
          <a:p>
            <a:r>
              <a:rPr lang="en-US" dirty="0"/>
              <a:t>Our Two-Stage Approach (and task recap)</a:t>
            </a:r>
            <a:endParaRPr lang="de-DE" dirty="0"/>
          </a:p>
        </p:txBody>
      </p:sp>
      <p:pic>
        <p:nvPicPr>
          <p:cNvPr id="6" name="Inhaltsplatzhalter 5" descr="Ein Bild, das Text, Screenshot, Diagramm, Schrift enthält.&#10;&#10;Automatisch generierte Beschreibung">
            <a:extLst>
              <a:ext uri="{FF2B5EF4-FFF2-40B4-BE49-F238E27FC236}">
                <a16:creationId xmlns:a16="http://schemas.microsoft.com/office/drawing/2014/main" id="{D57F5F0E-80EF-004C-AA5C-2A040F36250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39400" y="2201862"/>
            <a:ext cx="8494172" cy="3817938"/>
          </a:xfrm>
        </p:spPr>
      </p:pic>
      <p:sp>
        <p:nvSpPr>
          <p:cNvPr id="7" name="Pfeil: nach rechts 6">
            <a:extLst>
              <a:ext uri="{FF2B5EF4-FFF2-40B4-BE49-F238E27FC236}">
                <a16:creationId xmlns:a16="http://schemas.microsoft.com/office/drawing/2014/main" id="{663296B6-7DF2-9748-2C3E-DDE54E15691C}"/>
              </a:ext>
            </a:extLst>
          </p:cNvPr>
          <p:cNvSpPr/>
          <p:nvPr/>
        </p:nvSpPr>
        <p:spPr>
          <a:xfrm rot="19696765">
            <a:off x="547641" y="3014106"/>
            <a:ext cx="1905000" cy="36195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8" name="Pfeil: nach rechts 7">
            <a:extLst>
              <a:ext uri="{FF2B5EF4-FFF2-40B4-BE49-F238E27FC236}">
                <a16:creationId xmlns:a16="http://schemas.microsoft.com/office/drawing/2014/main" id="{DA3A8228-8F7D-FC2A-3BC9-B168AF8A5739}"/>
              </a:ext>
            </a:extLst>
          </p:cNvPr>
          <p:cNvSpPr/>
          <p:nvPr/>
        </p:nvSpPr>
        <p:spPr>
          <a:xfrm rot="18381810">
            <a:off x="2931850" y="4535375"/>
            <a:ext cx="1905000" cy="36195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3" name="Foliennummernplatzhalter 2">
            <a:extLst>
              <a:ext uri="{FF2B5EF4-FFF2-40B4-BE49-F238E27FC236}">
                <a16:creationId xmlns:a16="http://schemas.microsoft.com/office/drawing/2014/main" id="{78595F36-2424-1420-E1C7-12556AF9C337}"/>
              </a:ext>
            </a:extLst>
          </p:cNvPr>
          <p:cNvSpPr>
            <a:spLocks noGrp="1"/>
          </p:cNvSpPr>
          <p:nvPr>
            <p:ph type="sldNum" sz="quarter" idx="12"/>
          </p:nvPr>
        </p:nvSpPr>
        <p:spPr/>
        <p:txBody>
          <a:bodyPr/>
          <a:lstStyle/>
          <a:p>
            <a:fld id="{07CE569E-9B7C-4CB9-AB80-C0841F922CFF}" type="slidenum">
              <a:rPr lang="en-US" smtClean="0"/>
              <a:t>4</a:t>
            </a:fld>
            <a:endParaRPr lang="en-US"/>
          </a:p>
        </p:txBody>
      </p:sp>
    </p:spTree>
    <p:extLst>
      <p:ext uri="{BB962C8B-B14F-4D97-AF65-F5344CB8AC3E}">
        <p14:creationId xmlns:p14="http://schemas.microsoft.com/office/powerpoint/2010/main" val="748116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B2D89D-5D20-4AD7-EA49-01A34AABBB5A}"/>
              </a:ext>
            </a:extLst>
          </p:cNvPr>
          <p:cNvSpPr>
            <a:spLocks noGrp="1"/>
          </p:cNvSpPr>
          <p:nvPr>
            <p:ph type="title"/>
          </p:nvPr>
        </p:nvSpPr>
        <p:spPr/>
        <p:txBody>
          <a:bodyPr/>
          <a:lstStyle/>
          <a:p>
            <a:r>
              <a:rPr lang="en-US" dirty="0"/>
              <a:t>Let‘s look at an example</a:t>
            </a:r>
          </a:p>
        </p:txBody>
      </p:sp>
      <p:sp>
        <p:nvSpPr>
          <p:cNvPr id="3" name="Inhaltsplatzhalter 2">
            <a:extLst>
              <a:ext uri="{FF2B5EF4-FFF2-40B4-BE49-F238E27FC236}">
                <a16:creationId xmlns:a16="http://schemas.microsoft.com/office/drawing/2014/main" id="{D617B845-7A1E-D2E3-B44B-B951FAD096E0}"/>
              </a:ext>
            </a:extLst>
          </p:cNvPr>
          <p:cNvSpPr>
            <a:spLocks noGrp="1"/>
          </p:cNvSpPr>
          <p:nvPr>
            <p:ph idx="1"/>
          </p:nvPr>
        </p:nvSpPr>
        <p:spPr/>
        <p:txBody>
          <a:bodyPr>
            <a:normAutofit fontScale="85000" lnSpcReduction="20000"/>
          </a:bodyPr>
          <a:lstStyle/>
          <a:p>
            <a:pPr marL="0" indent="0">
              <a:buNone/>
            </a:pPr>
            <a:r>
              <a:rPr lang="en-US" dirty="0"/>
              <a:t>{</a:t>
            </a:r>
          </a:p>
          <a:p>
            <a:pPr marL="457200" lvl="1" indent="0">
              <a:buNone/>
            </a:pPr>
            <a:r>
              <a:rPr lang="en-US" dirty="0"/>
              <a:t>"id": "AuRED_142",</a:t>
            </a:r>
          </a:p>
          <a:p>
            <a:pPr marL="457200" lvl="1" indent="0">
              <a:buNone/>
            </a:pPr>
            <a:r>
              <a:rPr lang="en-US" dirty="0"/>
              <a:t>"claim": "Naturalization decree in preparation: Lebanese passports for</a:t>
            </a:r>
          </a:p>
          <a:p>
            <a:pPr marL="457200" lvl="1" indent="0">
              <a:buNone/>
            </a:pPr>
            <a:r>
              <a:rPr lang="en-US" dirty="0"/>
              <a:t>sale?! </a:t>
            </a:r>
            <a:r>
              <a:rPr lang="en-US" u="sng" dirty="0"/>
              <a:t>https://t.co/UuQ7yMbSWJ</a:t>
            </a:r>
            <a:r>
              <a:rPr lang="en-US" dirty="0"/>
              <a:t> </a:t>
            </a:r>
            <a:r>
              <a:rPr lang="en-US" u="sng" dirty="0"/>
              <a:t>https://t.co/Jf1K1NbZJD</a:t>
            </a:r>
            <a:r>
              <a:rPr lang="en-US" dirty="0"/>
              <a:t>",</a:t>
            </a:r>
          </a:p>
          <a:p>
            <a:pPr marL="457200" lvl="1" indent="0">
              <a:buNone/>
            </a:pPr>
            <a:r>
              <a:rPr lang="en-US" dirty="0"/>
              <a:t>“</a:t>
            </a:r>
            <a:r>
              <a:rPr lang="en-US" dirty="0">
                <a:solidFill>
                  <a:schemeClr val="tx1">
                    <a:lumMod val="95000"/>
                    <a:alpha val="70000"/>
                  </a:schemeClr>
                </a:solidFill>
              </a:rPr>
              <a:t>timeline</a:t>
            </a:r>
            <a:r>
              <a:rPr lang="en-US" dirty="0"/>
              <a:t>": [</a:t>
            </a:r>
          </a:p>
          <a:p>
            <a:pPr marL="914400" lvl="2" indent="0">
              <a:buNone/>
            </a:pPr>
            <a:r>
              <a:rPr lang="en-US" dirty="0"/>
              <a:t>["</a:t>
            </a:r>
            <a:r>
              <a:rPr lang="en-US" u="sng" dirty="0"/>
              <a:t>https://twitter.com/LBpresidency</a:t>
            </a:r>
            <a:r>
              <a:rPr lang="en-US" dirty="0"/>
              <a:t>", "1555424541509386240", "The Information Office of the Presidency of the Republic: What was published by the French newspaper “Liberation” about the “selling” of Lebanese passports to non-Lebanese is false and baseless news."], ...</a:t>
            </a:r>
          </a:p>
          <a:p>
            <a:pPr marL="457200" lvl="1" indent="0">
              <a:buNone/>
            </a:pPr>
            <a:r>
              <a:rPr lang="en-US" dirty="0"/>
              <a:t>], …</a:t>
            </a:r>
          </a:p>
          <a:p>
            <a:pPr marL="0" indent="0">
              <a:buNone/>
            </a:pPr>
            <a:r>
              <a:rPr lang="en-US" dirty="0"/>
              <a:t>}</a:t>
            </a:r>
            <a:endParaRPr lang="de-DE" dirty="0"/>
          </a:p>
          <a:p>
            <a:pPr marL="0" indent="0">
              <a:buNone/>
            </a:pPr>
            <a:endParaRPr lang="de-DE" dirty="0"/>
          </a:p>
        </p:txBody>
      </p:sp>
      <p:sp>
        <p:nvSpPr>
          <p:cNvPr id="4" name="Foliennummernplatzhalter 3">
            <a:extLst>
              <a:ext uri="{FF2B5EF4-FFF2-40B4-BE49-F238E27FC236}">
                <a16:creationId xmlns:a16="http://schemas.microsoft.com/office/drawing/2014/main" id="{02EE0B24-0006-6BE0-262A-8DE0561467E5}"/>
              </a:ext>
            </a:extLst>
          </p:cNvPr>
          <p:cNvSpPr>
            <a:spLocks noGrp="1"/>
          </p:cNvSpPr>
          <p:nvPr>
            <p:ph type="sldNum" sz="quarter" idx="12"/>
          </p:nvPr>
        </p:nvSpPr>
        <p:spPr/>
        <p:txBody>
          <a:bodyPr/>
          <a:lstStyle/>
          <a:p>
            <a:fld id="{07CE569E-9B7C-4CB9-AB80-C0841F922CFF}" type="slidenum">
              <a:rPr lang="en-US" smtClean="0"/>
              <a:t>5</a:t>
            </a:fld>
            <a:endParaRPr lang="en-US"/>
          </a:p>
        </p:txBody>
      </p:sp>
    </p:spTree>
    <p:extLst>
      <p:ext uri="{BB962C8B-B14F-4D97-AF65-F5344CB8AC3E}">
        <p14:creationId xmlns:p14="http://schemas.microsoft.com/office/powerpoint/2010/main" val="1805416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B2D89D-5D20-4AD7-EA49-01A34AABBB5A}"/>
              </a:ext>
            </a:extLst>
          </p:cNvPr>
          <p:cNvSpPr>
            <a:spLocks noGrp="1"/>
          </p:cNvSpPr>
          <p:nvPr>
            <p:ph type="title"/>
          </p:nvPr>
        </p:nvSpPr>
        <p:spPr/>
        <p:txBody>
          <a:bodyPr/>
          <a:lstStyle/>
          <a:p>
            <a:r>
              <a:rPr lang="en-US" dirty="0"/>
              <a:t>Let‘s look at an example</a:t>
            </a:r>
          </a:p>
        </p:txBody>
      </p:sp>
      <p:sp>
        <p:nvSpPr>
          <p:cNvPr id="3" name="Inhaltsplatzhalter 2">
            <a:extLst>
              <a:ext uri="{FF2B5EF4-FFF2-40B4-BE49-F238E27FC236}">
                <a16:creationId xmlns:a16="http://schemas.microsoft.com/office/drawing/2014/main" id="{D617B845-7A1E-D2E3-B44B-B951FAD096E0}"/>
              </a:ext>
            </a:extLst>
          </p:cNvPr>
          <p:cNvSpPr>
            <a:spLocks noGrp="1"/>
          </p:cNvSpPr>
          <p:nvPr>
            <p:ph idx="1"/>
          </p:nvPr>
        </p:nvSpPr>
        <p:spPr/>
        <p:txBody>
          <a:bodyPr>
            <a:normAutofit fontScale="85000" lnSpcReduction="20000"/>
          </a:bodyPr>
          <a:lstStyle/>
          <a:p>
            <a:pPr marL="0" indent="0">
              <a:buNone/>
            </a:pPr>
            <a:r>
              <a:rPr lang="en-US" dirty="0"/>
              <a:t>{</a:t>
            </a:r>
          </a:p>
          <a:p>
            <a:pPr marL="457200" lvl="1" indent="0">
              <a:buNone/>
            </a:pPr>
            <a:r>
              <a:rPr lang="en-US" dirty="0"/>
              <a:t>"id": "AuRED_142",</a:t>
            </a:r>
          </a:p>
          <a:p>
            <a:pPr marL="457200" lvl="1" indent="0">
              <a:buNone/>
            </a:pPr>
            <a:r>
              <a:rPr lang="en-US" dirty="0"/>
              <a:t>"claim": "Naturalization decree in preparation: Lebanese passports for</a:t>
            </a:r>
          </a:p>
          <a:p>
            <a:pPr marL="457200" lvl="1" indent="0">
              <a:buNone/>
            </a:pPr>
            <a:r>
              <a:rPr lang="en-US" dirty="0"/>
              <a:t>sale?! </a:t>
            </a:r>
            <a:r>
              <a:rPr lang="en-US" u="sng" dirty="0"/>
              <a:t>https://t.co/UuQ7yMbSWJ</a:t>
            </a:r>
            <a:r>
              <a:rPr lang="en-US" dirty="0"/>
              <a:t> </a:t>
            </a:r>
            <a:r>
              <a:rPr lang="en-US" u="sng" dirty="0"/>
              <a:t>https://t.co/Jf1K1NbZJD</a:t>
            </a:r>
            <a:r>
              <a:rPr lang="en-US" dirty="0"/>
              <a:t>",</a:t>
            </a:r>
          </a:p>
          <a:p>
            <a:pPr marL="457200" lvl="1" indent="0">
              <a:buNone/>
            </a:pPr>
            <a:r>
              <a:rPr lang="en-US" dirty="0"/>
              <a:t>"</a:t>
            </a:r>
            <a:r>
              <a:rPr lang="en-US" dirty="0">
                <a:solidFill>
                  <a:schemeClr val="tx1">
                    <a:lumMod val="95000"/>
                    <a:alpha val="70000"/>
                  </a:schemeClr>
                </a:solidFill>
              </a:rPr>
              <a:t>timeline</a:t>
            </a:r>
            <a:r>
              <a:rPr lang="en-US" dirty="0"/>
              <a:t>": [</a:t>
            </a:r>
          </a:p>
          <a:p>
            <a:pPr marL="914400" lvl="2" indent="0">
              <a:buNone/>
            </a:pPr>
            <a:r>
              <a:rPr lang="en-US" dirty="0"/>
              <a:t>["</a:t>
            </a:r>
            <a:r>
              <a:rPr lang="en-US" u="sng" dirty="0">
                <a:highlight>
                  <a:srgbClr val="FF0000"/>
                </a:highlight>
              </a:rPr>
              <a:t>https://twitter.com/LBpresidency</a:t>
            </a:r>
            <a:r>
              <a:rPr lang="en-US" dirty="0"/>
              <a:t>", "1555424541509386240", "The Information Office of the Presidency of the Republic: What was published by the French newspaper “Liberation” about the “selling” of Lebanese passports to non-Lebanese is false and baseless news."], ...</a:t>
            </a:r>
          </a:p>
          <a:p>
            <a:pPr marL="457200" lvl="1" indent="0">
              <a:buNone/>
            </a:pPr>
            <a:r>
              <a:rPr lang="en-US" dirty="0"/>
              <a:t>], …</a:t>
            </a:r>
          </a:p>
          <a:p>
            <a:pPr marL="0" indent="0">
              <a:buNone/>
            </a:pPr>
            <a:r>
              <a:rPr lang="en-US" dirty="0"/>
              <a:t>}</a:t>
            </a:r>
            <a:endParaRPr lang="de-DE" dirty="0"/>
          </a:p>
          <a:p>
            <a:pPr marL="0" indent="0">
              <a:buNone/>
            </a:pPr>
            <a:endParaRPr lang="de-DE" dirty="0"/>
          </a:p>
        </p:txBody>
      </p:sp>
      <p:sp>
        <p:nvSpPr>
          <p:cNvPr id="4" name="Foliennummernplatzhalter 3">
            <a:extLst>
              <a:ext uri="{FF2B5EF4-FFF2-40B4-BE49-F238E27FC236}">
                <a16:creationId xmlns:a16="http://schemas.microsoft.com/office/drawing/2014/main" id="{9FCAA9EF-573B-C1EE-B602-8C70CDE09C8E}"/>
              </a:ext>
            </a:extLst>
          </p:cNvPr>
          <p:cNvSpPr>
            <a:spLocks noGrp="1"/>
          </p:cNvSpPr>
          <p:nvPr>
            <p:ph type="sldNum" sz="quarter" idx="12"/>
          </p:nvPr>
        </p:nvSpPr>
        <p:spPr/>
        <p:txBody>
          <a:bodyPr/>
          <a:lstStyle/>
          <a:p>
            <a:fld id="{07CE569E-9B7C-4CB9-AB80-C0841F922CFF}" type="slidenum">
              <a:rPr lang="en-US" smtClean="0"/>
              <a:t>6</a:t>
            </a:fld>
            <a:endParaRPr lang="en-US"/>
          </a:p>
        </p:txBody>
      </p:sp>
    </p:spTree>
    <p:extLst>
      <p:ext uri="{BB962C8B-B14F-4D97-AF65-F5344CB8AC3E}">
        <p14:creationId xmlns:p14="http://schemas.microsoft.com/office/powerpoint/2010/main" val="2998957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B3AFA3-A8A7-A543-825B-130570B0FDB1}"/>
              </a:ext>
            </a:extLst>
          </p:cNvPr>
          <p:cNvSpPr>
            <a:spLocks noGrp="1"/>
          </p:cNvSpPr>
          <p:nvPr>
            <p:ph type="title"/>
          </p:nvPr>
        </p:nvSpPr>
        <p:spPr>
          <a:xfrm>
            <a:off x="761999" y="762000"/>
            <a:ext cx="10848975" cy="1524000"/>
          </a:xfrm>
        </p:spPr>
        <p:txBody>
          <a:bodyPr/>
          <a:lstStyle/>
          <a:p>
            <a:r>
              <a:rPr lang="en-US" dirty="0"/>
              <a:t>Our Two-Stage Approach</a:t>
            </a:r>
            <a:endParaRPr lang="de-DE" dirty="0"/>
          </a:p>
        </p:txBody>
      </p:sp>
      <p:pic>
        <p:nvPicPr>
          <p:cNvPr id="6" name="Inhaltsplatzhalter 5" descr="Ein Bild, das Text, Screenshot, Diagramm, Schrift enthält.&#10;&#10;Automatisch generierte Beschreibung">
            <a:extLst>
              <a:ext uri="{FF2B5EF4-FFF2-40B4-BE49-F238E27FC236}">
                <a16:creationId xmlns:a16="http://schemas.microsoft.com/office/drawing/2014/main" id="{D57F5F0E-80EF-004C-AA5C-2A040F36250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48914" y="2078037"/>
            <a:ext cx="8494172" cy="3817938"/>
          </a:xfrm>
        </p:spPr>
      </p:pic>
      <p:sp>
        <p:nvSpPr>
          <p:cNvPr id="9" name="Pfeil: nach rechts 8">
            <a:extLst>
              <a:ext uri="{FF2B5EF4-FFF2-40B4-BE49-F238E27FC236}">
                <a16:creationId xmlns:a16="http://schemas.microsoft.com/office/drawing/2014/main" id="{BEA1D1E9-EE2D-94F9-5E32-550B1778F785}"/>
              </a:ext>
            </a:extLst>
          </p:cNvPr>
          <p:cNvSpPr/>
          <p:nvPr/>
        </p:nvSpPr>
        <p:spPr>
          <a:xfrm rot="8584519">
            <a:off x="6013676" y="1804034"/>
            <a:ext cx="1905000" cy="36195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3" name="Foliennummernplatzhalter 2">
            <a:extLst>
              <a:ext uri="{FF2B5EF4-FFF2-40B4-BE49-F238E27FC236}">
                <a16:creationId xmlns:a16="http://schemas.microsoft.com/office/drawing/2014/main" id="{97A0735E-4111-DF4B-C4E5-CAEA6DBDEC83}"/>
              </a:ext>
            </a:extLst>
          </p:cNvPr>
          <p:cNvSpPr>
            <a:spLocks noGrp="1"/>
          </p:cNvSpPr>
          <p:nvPr>
            <p:ph type="sldNum" sz="quarter" idx="12"/>
          </p:nvPr>
        </p:nvSpPr>
        <p:spPr/>
        <p:txBody>
          <a:bodyPr/>
          <a:lstStyle/>
          <a:p>
            <a:fld id="{07CE569E-9B7C-4CB9-AB80-C0841F922CFF}" type="slidenum">
              <a:rPr lang="en-US" smtClean="0"/>
              <a:t>7</a:t>
            </a:fld>
            <a:endParaRPr lang="en-US"/>
          </a:p>
        </p:txBody>
      </p:sp>
    </p:spTree>
    <p:extLst>
      <p:ext uri="{BB962C8B-B14F-4D97-AF65-F5344CB8AC3E}">
        <p14:creationId xmlns:p14="http://schemas.microsoft.com/office/powerpoint/2010/main" val="96133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4F804B-2BB5-2946-2AB2-4F023A1A8477}"/>
              </a:ext>
            </a:extLst>
          </p:cNvPr>
          <p:cNvSpPr>
            <a:spLocks noGrp="1"/>
          </p:cNvSpPr>
          <p:nvPr>
            <p:ph type="title"/>
          </p:nvPr>
        </p:nvSpPr>
        <p:spPr/>
        <p:txBody>
          <a:bodyPr/>
          <a:lstStyle/>
          <a:p>
            <a:r>
              <a:rPr lang="en-US" dirty="0"/>
              <a:t>Retrieval Stage – Goals and Approach</a:t>
            </a:r>
            <a:endParaRPr lang="de-DE" dirty="0"/>
          </a:p>
        </p:txBody>
      </p:sp>
      <p:sp>
        <p:nvSpPr>
          <p:cNvPr id="3" name="Inhaltsplatzhalter 2">
            <a:extLst>
              <a:ext uri="{FF2B5EF4-FFF2-40B4-BE49-F238E27FC236}">
                <a16:creationId xmlns:a16="http://schemas.microsoft.com/office/drawing/2014/main" id="{EAA06A72-50AC-1D52-A1C9-544077370A98}"/>
              </a:ext>
            </a:extLst>
          </p:cNvPr>
          <p:cNvSpPr>
            <a:spLocks noGrp="1"/>
          </p:cNvSpPr>
          <p:nvPr>
            <p:ph idx="1"/>
          </p:nvPr>
        </p:nvSpPr>
        <p:spPr/>
        <p:txBody>
          <a:bodyPr/>
          <a:lstStyle/>
          <a:p>
            <a:r>
              <a:rPr lang="en-US" dirty="0"/>
              <a:t>Retrieve relevant tweets from authority account timelines</a:t>
            </a:r>
          </a:p>
          <a:p>
            <a:r>
              <a:rPr lang="en-US" u="sng" dirty="0"/>
              <a:t>Lexical</a:t>
            </a:r>
            <a:r>
              <a:rPr lang="en-US" dirty="0"/>
              <a:t> methods: BM25, TF-IDF</a:t>
            </a:r>
          </a:p>
          <a:p>
            <a:r>
              <a:rPr lang="en-US" u="sng" dirty="0"/>
              <a:t>Semantic</a:t>
            </a:r>
            <a:r>
              <a:rPr lang="en-US" dirty="0"/>
              <a:t> methods: Embedding Models &amp; Cosine Similarity</a:t>
            </a:r>
          </a:p>
          <a:p>
            <a:r>
              <a:rPr lang="en-US" dirty="0"/>
              <a:t>Does </a:t>
            </a:r>
            <a:r>
              <a:rPr lang="en-US" u="sng" dirty="0"/>
              <a:t>preprocessing</a:t>
            </a:r>
            <a:r>
              <a:rPr lang="en-US" dirty="0"/>
              <a:t> or </a:t>
            </a:r>
            <a:r>
              <a:rPr lang="en-US" u="sng" dirty="0"/>
              <a:t>additional info about the authority </a:t>
            </a:r>
            <a:r>
              <a:rPr lang="en-US" dirty="0"/>
              <a:t>improve Recall?</a:t>
            </a:r>
          </a:p>
          <a:p>
            <a:r>
              <a:rPr lang="en-US" dirty="0"/>
              <a:t>Balancing retrieval speed and accuracy </a:t>
            </a:r>
            <a:r>
              <a:rPr lang="en-US" dirty="0">
                <a:sym typeface="Wingdings" panose="05000000000000000000" pitchFamily="2" charset="2"/>
              </a:rPr>
              <a:t> Re-Ranking?</a:t>
            </a:r>
            <a:endParaRPr lang="de-DE" dirty="0"/>
          </a:p>
        </p:txBody>
      </p:sp>
      <p:sp>
        <p:nvSpPr>
          <p:cNvPr id="4" name="Foliennummernplatzhalter 3">
            <a:extLst>
              <a:ext uri="{FF2B5EF4-FFF2-40B4-BE49-F238E27FC236}">
                <a16:creationId xmlns:a16="http://schemas.microsoft.com/office/drawing/2014/main" id="{F8FCC699-B092-CE83-FE6E-426838D71A8C}"/>
              </a:ext>
            </a:extLst>
          </p:cNvPr>
          <p:cNvSpPr>
            <a:spLocks noGrp="1"/>
          </p:cNvSpPr>
          <p:nvPr>
            <p:ph type="sldNum" sz="quarter" idx="12"/>
          </p:nvPr>
        </p:nvSpPr>
        <p:spPr/>
        <p:txBody>
          <a:bodyPr/>
          <a:lstStyle/>
          <a:p>
            <a:fld id="{07CE569E-9B7C-4CB9-AB80-C0841F922CFF}" type="slidenum">
              <a:rPr lang="en-US" smtClean="0"/>
              <a:t>8</a:t>
            </a:fld>
            <a:endParaRPr lang="en-US"/>
          </a:p>
        </p:txBody>
      </p:sp>
    </p:spTree>
    <p:extLst>
      <p:ext uri="{BB962C8B-B14F-4D97-AF65-F5344CB8AC3E}">
        <p14:creationId xmlns:p14="http://schemas.microsoft.com/office/powerpoint/2010/main" val="2858529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B3AFA3-A8A7-A543-825B-130570B0FDB1}"/>
              </a:ext>
            </a:extLst>
          </p:cNvPr>
          <p:cNvSpPr>
            <a:spLocks noGrp="1"/>
          </p:cNvSpPr>
          <p:nvPr>
            <p:ph type="title"/>
          </p:nvPr>
        </p:nvSpPr>
        <p:spPr>
          <a:xfrm>
            <a:off x="761999" y="762000"/>
            <a:ext cx="10848975" cy="1524000"/>
          </a:xfrm>
        </p:spPr>
        <p:txBody>
          <a:bodyPr/>
          <a:lstStyle/>
          <a:p>
            <a:r>
              <a:rPr lang="en-US" dirty="0"/>
              <a:t>Our Two-Stage Approach</a:t>
            </a:r>
            <a:endParaRPr lang="de-DE" dirty="0"/>
          </a:p>
        </p:txBody>
      </p:sp>
      <p:pic>
        <p:nvPicPr>
          <p:cNvPr id="6" name="Inhaltsplatzhalter 5" descr="Ein Bild, das Text, Screenshot, Diagramm, Schrift enthält.&#10;&#10;Automatisch generierte Beschreibung">
            <a:extLst>
              <a:ext uri="{FF2B5EF4-FFF2-40B4-BE49-F238E27FC236}">
                <a16:creationId xmlns:a16="http://schemas.microsoft.com/office/drawing/2014/main" id="{D57F5F0E-80EF-004C-AA5C-2A040F3625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9400" y="2201862"/>
            <a:ext cx="8494172" cy="3817938"/>
          </a:xfrm>
        </p:spPr>
      </p:pic>
      <p:sp>
        <p:nvSpPr>
          <p:cNvPr id="4" name="Pfeil: nach rechts 3">
            <a:extLst>
              <a:ext uri="{FF2B5EF4-FFF2-40B4-BE49-F238E27FC236}">
                <a16:creationId xmlns:a16="http://schemas.microsoft.com/office/drawing/2014/main" id="{4D585186-BC5F-CD4F-3D89-299D677AFDE6}"/>
              </a:ext>
            </a:extLst>
          </p:cNvPr>
          <p:cNvSpPr/>
          <p:nvPr/>
        </p:nvSpPr>
        <p:spPr>
          <a:xfrm rot="7999432">
            <a:off x="9873285" y="2105024"/>
            <a:ext cx="1905000" cy="36195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3" name="Foliennummernplatzhalter 2">
            <a:extLst>
              <a:ext uri="{FF2B5EF4-FFF2-40B4-BE49-F238E27FC236}">
                <a16:creationId xmlns:a16="http://schemas.microsoft.com/office/drawing/2014/main" id="{E68795C0-380C-6D17-BA88-99C5F72377F5}"/>
              </a:ext>
            </a:extLst>
          </p:cNvPr>
          <p:cNvSpPr>
            <a:spLocks noGrp="1"/>
          </p:cNvSpPr>
          <p:nvPr>
            <p:ph type="sldNum" sz="quarter" idx="12"/>
          </p:nvPr>
        </p:nvSpPr>
        <p:spPr/>
        <p:txBody>
          <a:bodyPr/>
          <a:lstStyle/>
          <a:p>
            <a:fld id="{07CE569E-9B7C-4CB9-AB80-C0841F922CFF}" type="slidenum">
              <a:rPr lang="en-US" smtClean="0"/>
              <a:t>9</a:t>
            </a:fld>
            <a:endParaRPr lang="en-US"/>
          </a:p>
        </p:txBody>
      </p:sp>
    </p:spTree>
    <p:extLst>
      <p:ext uri="{BB962C8B-B14F-4D97-AF65-F5344CB8AC3E}">
        <p14:creationId xmlns:p14="http://schemas.microsoft.com/office/powerpoint/2010/main" val="2775169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BCC5FB-1226-88EC-8696-0CE8ABBF85B3}"/>
              </a:ext>
            </a:extLst>
          </p:cNvPr>
          <p:cNvSpPr>
            <a:spLocks noGrp="1"/>
          </p:cNvSpPr>
          <p:nvPr>
            <p:ph type="title"/>
          </p:nvPr>
        </p:nvSpPr>
        <p:spPr/>
        <p:txBody>
          <a:bodyPr/>
          <a:lstStyle/>
          <a:p>
            <a:r>
              <a:rPr lang="en-US" dirty="0"/>
              <a:t>Verification Stage – Strategy and Models</a:t>
            </a:r>
            <a:endParaRPr lang="en-AT" dirty="0"/>
          </a:p>
        </p:txBody>
      </p:sp>
      <p:sp>
        <p:nvSpPr>
          <p:cNvPr id="3" name="Inhaltsplatzhalter 2">
            <a:extLst>
              <a:ext uri="{FF2B5EF4-FFF2-40B4-BE49-F238E27FC236}">
                <a16:creationId xmlns:a16="http://schemas.microsoft.com/office/drawing/2014/main" id="{45952CD8-B053-ACC0-DF38-881A4F39300A}"/>
              </a:ext>
            </a:extLst>
          </p:cNvPr>
          <p:cNvSpPr>
            <a:spLocks noGrp="1"/>
          </p:cNvSpPr>
          <p:nvPr>
            <p:ph idx="1"/>
          </p:nvPr>
        </p:nvSpPr>
        <p:spPr/>
        <p:txBody>
          <a:bodyPr/>
          <a:lstStyle/>
          <a:p>
            <a:r>
              <a:rPr lang="en-US" dirty="0"/>
              <a:t>Verify claim support using retrieved evidence</a:t>
            </a:r>
          </a:p>
          <a:p>
            <a:r>
              <a:rPr lang="en-US" dirty="0"/>
              <a:t>Basically Natural Language Inference (NLI)</a:t>
            </a:r>
          </a:p>
          <a:p>
            <a:r>
              <a:rPr lang="en-US" u="sng" dirty="0"/>
              <a:t>Models</a:t>
            </a:r>
            <a:r>
              <a:rPr lang="en-US" dirty="0"/>
              <a:t>: BERT Variants fine-tuned for NLI, GPT-4, Llama-3</a:t>
            </a:r>
          </a:p>
          <a:p>
            <a:r>
              <a:rPr lang="en-US" dirty="0"/>
              <a:t>Focus on natural language reasoning: how complex would the language model need to be?</a:t>
            </a:r>
            <a:endParaRPr lang="en-AT" dirty="0"/>
          </a:p>
        </p:txBody>
      </p:sp>
      <p:sp>
        <p:nvSpPr>
          <p:cNvPr id="4" name="Foliennummernplatzhalter 3">
            <a:extLst>
              <a:ext uri="{FF2B5EF4-FFF2-40B4-BE49-F238E27FC236}">
                <a16:creationId xmlns:a16="http://schemas.microsoft.com/office/drawing/2014/main" id="{EF23565C-9E47-EC4E-28DD-76150B790FE2}"/>
              </a:ext>
            </a:extLst>
          </p:cNvPr>
          <p:cNvSpPr>
            <a:spLocks noGrp="1"/>
          </p:cNvSpPr>
          <p:nvPr>
            <p:ph type="sldNum" sz="quarter" idx="12"/>
          </p:nvPr>
        </p:nvSpPr>
        <p:spPr/>
        <p:txBody>
          <a:bodyPr/>
          <a:lstStyle/>
          <a:p>
            <a:fld id="{07CE569E-9B7C-4CB9-AB80-C0841F922CFF}" type="slidenum">
              <a:rPr lang="en-US" smtClean="0"/>
              <a:t>10</a:t>
            </a:fld>
            <a:endParaRPr lang="en-US"/>
          </a:p>
        </p:txBody>
      </p:sp>
    </p:spTree>
    <p:extLst>
      <p:ext uri="{BB962C8B-B14F-4D97-AF65-F5344CB8AC3E}">
        <p14:creationId xmlns:p14="http://schemas.microsoft.com/office/powerpoint/2010/main" val="4262555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B3AFA3-A8A7-A543-825B-130570B0FDB1}"/>
              </a:ext>
            </a:extLst>
          </p:cNvPr>
          <p:cNvSpPr>
            <a:spLocks noGrp="1"/>
          </p:cNvSpPr>
          <p:nvPr>
            <p:ph type="title"/>
          </p:nvPr>
        </p:nvSpPr>
        <p:spPr>
          <a:xfrm>
            <a:off x="761999" y="762000"/>
            <a:ext cx="10848975" cy="1524000"/>
          </a:xfrm>
        </p:spPr>
        <p:txBody>
          <a:bodyPr/>
          <a:lstStyle/>
          <a:p>
            <a:r>
              <a:rPr lang="en-US" dirty="0"/>
              <a:t>Our Two-Stage Approach</a:t>
            </a:r>
            <a:endParaRPr lang="de-DE" dirty="0"/>
          </a:p>
        </p:txBody>
      </p:sp>
      <p:pic>
        <p:nvPicPr>
          <p:cNvPr id="6" name="Inhaltsplatzhalter 5" descr="Ein Bild, das Text, Screenshot, Diagramm, Schrift enthält.&#10;&#10;Automatisch generierte Beschreibung">
            <a:extLst>
              <a:ext uri="{FF2B5EF4-FFF2-40B4-BE49-F238E27FC236}">
                <a16:creationId xmlns:a16="http://schemas.microsoft.com/office/drawing/2014/main" id="{D57F5F0E-80EF-004C-AA5C-2A040F3625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9400" y="2201862"/>
            <a:ext cx="8494172" cy="3817938"/>
          </a:xfrm>
        </p:spPr>
      </p:pic>
      <p:sp>
        <p:nvSpPr>
          <p:cNvPr id="4" name="Pfeil: nach rechts 3">
            <a:extLst>
              <a:ext uri="{FF2B5EF4-FFF2-40B4-BE49-F238E27FC236}">
                <a16:creationId xmlns:a16="http://schemas.microsoft.com/office/drawing/2014/main" id="{4D585186-BC5F-CD4F-3D89-299D677AFDE6}"/>
              </a:ext>
            </a:extLst>
          </p:cNvPr>
          <p:cNvSpPr/>
          <p:nvPr/>
        </p:nvSpPr>
        <p:spPr>
          <a:xfrm rot="738494">
            <a:off x="805928" y="4857648"/>
            <a:ext cx="1905000" cy="36195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3" name="Foliennummernplatzhalter 2">
            <a:extLst>
              <a:ext uri="{FF2B5EF4-FFF2-40B4-BE49-F238E27FC236}">
                <a16:creationId xmlns:a16="http://schemas.microsoft.com/office/drawing/2014/main" id="{E68795C0-380C-6D17-BA88-99C5F72377F5}"/>
              </a:ext>
            </a:extLst>
          </p:cNvPr>
          <p:cNvSpPr>
            <a:spLocks noGrp="1"/>
          </p:cNvSpPr>
          <p:nvPr>
            <p:ph type="sldNum" sz="quarter" idx="12"/>
          </p:nvPr>
        </p:nvSpPr>
        <p:spPr/>
        <p:txBody>
          <a:bodyPr/>
          <a:lstStyle/>
          <a:p>
            <a:fld id="{07CE569E-9B7C-4CB9-AB80-C0841F922CFF}" type="slidenum">
              <a:rPr lang="en-US" smtClean="0"/>
              <a:t>11</a:t>
            </a:fld>
            <a:endParaRPr lang="en-US"/>
          </a:p>
        </p:txBody>
      </p:sp>
    </p:spTree>
    <p:extLst>
      <p:ext uri="{BB962C8B-B14F-4D97-AF65-F5344CB8AC3E}">
        <p14:creationId xmlns:p14="http://schemas.microsoft.com/office/powerpoint/2010/main" val="1170564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447F8B-0492-DCD8-182B-115404815BBD}"/>
              </a:ext>
            </a:extLst>
          </p:cNvPr>
          <p:cNvSpPr>
            <a:spLocks noGrp="1"/>
          </p:cNvSpPr>
          <p:nvPr>
            <p:ph type="title"/>
          </p:nvPr>
        </p:nvSpPr>
        <p:spPr/>
        <p:txBody>
          <a:bodyPr/>
          <a:lstStyle/>
          <a:p>
            <a:r>
              <a:rPr lang="en-US" dirty="0"/>
              <a:t>Performance Metrics (CheckThat! Task 5)</a:t>
            </a:r>
            <a:endParaRPr lang="en-AT" dirty="0"/>
          </a:p>
        </p:txBody>
      </p:sp>
      <p:sp>
        <p:nvSpPr>
          <p:cNvPr id="3" name="Inhaltsplatzhalter 2">
            <a:extLst>
              <a:ext uri="{FF2B5EF4-FFF2-40B4-BE49-F238E27FC236}">
                <a16:creationId xmlns:a16="http://schemas.microsoft.com/office/drawing/2014/main" id="{BF9B7014-A3F4-EDBC-2951-B2D7981D272A}"/>
              </a:ext>
            </a:extLst>
          </p:cNvPr>
          <p:cNvSpPr>
            <a:spLocks noGrp="1"/>
          </p:cNvSpPr>
          <p:nvPr>
            <p:ph idx="1"/>
          </p:nvPr>
        </p:nvSpPr>
        <p:spPr/>
        <p:txBody>
          <a:bodyPr/>
          <a:lstStyle/>
          <a:p>
            <a:r>
              <a:rPr lang="en-US" u="sng" dirty="0"/>
              <a:t>Retrieval</a:t>
            </a:r>
            <a:r>
              <a:rPr lang="en-US" dirty="0"/>
              <a:t>: Recall@5, Mean Average Precision</a:t>
            </a:r>
          </a:p>
          <a:p>
            <a:r>
              <a:rPr lang="en-US" u="sng" dirty="0"/>
              <a:t>Verification</a:t>
            </a:r>
            <a:r>
              <a:rPr lang="en-US" dirty="0"/>
              <a:t>: Macro-F1 (balance of Precision and Recall), </a:t>
            </a:r>
            <a:br>
              <a:rPr lang="en-US" dirty="0"/>
            </a:br>
            <a:r>
              <a:rPr lang="en-US" dirty="0"/>
              <a:t>Strict-Macro-F1</a:t>
            </a:r>
            <a:endParaRPr lang="en-AT" dirty="0"/>
          </a:p>
        </p:txBody>
      </p:sp>
      <p:sp>
        <p:nvSpPr>
          <p:cNvPr id="4" name="Foliennummernplatzhalter 3">
            <a:extLst>
              <a:ext uri="{FF2B5EF4-FFF2-40B4-BE49-F238E27FC236}">
                <a16:creationId xmlns:a16="http://schemas.microsoft.com/office/drawing/2014/main" id="{A99C0886-5619-C743-13C3-5007D7880963}"/>
              </a:ext>
            </a:extLst>
          </p:cNvPr>
          <p:cNvSpPr>
            <a:spLocks noGrp="1"/>
          </p:cNvSpPr>
          <p:nvPr>
            <p:ph type="sldNum" sz="quarter" idx="12"/>
          </p:nvPr>
        </p:nvSpPr>
        <p:spPr/>
        <p:txBody>
          <a:bodyPr/>
          <a:lstStyle/>
          <a:p>
            <a:fld id="{07CE569E-9B7C-4CB9-AB80-C0841F922CFF}" type="slidenum">
              <a:rPr lang="en-US" smtClean="0"/>
              <a:t>12</a:t>
            </a:fld>
            <a:endParaRPr lang="en-US"/>
          </a:p>
        </p:txBody>
      </p:sp>
    </p:spTree>
    <p:extLst>
      <p:ext uri="{BB962C8B-B14F-4D97-AF65-F5344CB8AC3E}">
        <p14:creationId xmlns:p14="http://schemas.microsoft.com/office/powerpoint/2010/main" val="1301025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66E8BE-88C4-AADC-582B-484D1EE2807B}"/>
              </a:ext>
            </a:extLst>
          </p:cNvPr>
          <p:cNvSpPr>
            <a:spLocks noGrp="1"/>
          </p:cNvSpPr>
          <p:nvPr>
            <p:ph type="title"/>
          </p:nvPr>
        </p:nvSpPr>
        <p:spPr/>
        <p:txBody>
          <a:bodyPr/>
          <a:lstStyle/>
          <a:p>
            <a:r>
              <a:rPr lang="en-US" dirty="0"/>
              <a:t>Leaderboard – Retrieval (English)</a:t>
            </a:r>
            <a:endParaRPr lang="en-AT" dirty="0"/>
          </a:p>
        </p:txBody>
      </p:sp>
      <p:pic>
        <p:nvPicPr>
          <p:cNvPr id="12" name="Grafik 11">
            <a:extLst>
              <a:ext uri="{FF2B5EF4-FFF2-40B4-BE49-F238E27FC236}">
                <a16:creationId xmlns:a16="http://schemas.microsoft.com/office/drawing/2014/main" id="{04E770AC-4188-4890-599A-669EB8E0FAB1}"/>
              </a:ext>
            </a:extLst>
          </p:cNvPr>
          <p:cNvPicPr>
            <a:picLocks noChangeAspect="1"/>
          </p:cNvPicPr>
          <p:nvPr/>
        </p:nvPicPr>
        <p:blipFill>
          <a:blip r:embed="rId2"/>
          <a:stretch>
            <a:fillRect/>
          </a:stretch>
        </p:blipFill>
        <p:spPr>
          <a:xfrm>
            <a:off x="762000" y="2286000"/>
            <a:ext cx="9000000" cy="2723343"/>
          </a:xfrm>
          <a:prstGeom prst="rect">
            <a:avLst/>
          </a:prstGeom>
        </p:spPr>
      </p:pic>
      <p:sp>
        <p:nvSpPr>
          <p:cNvPr id="3" name="Foliennummernplatzhalter 2">
            <a:extLst>
              <a:ext uri="{FF2B5EF4-FFF2-40B4-BE49-F238E27FC236}">
                <a16:creationId xmlns:a16="http://schemas.microsoft.com/office/drawing/2014/main" id="{BFF3E969-3D38-036A-523B-501D17B19971}"/>
              </a:ext>
            </a:extLst>
          </p:cNvPr>
          <p:cNvSpPr>
            <a:spLocks noGrp="1"/>
          </p:cNvSpPr>
          <p:nvPr>
            <p:ph type="sldNum" sz="quarter" idx="12"/>
          </p:nvPr>
        </p:nvSpPr>
        <p:spPr/>
        <p:txBody>
          <a:bodyPr/>
          <a:lstStyle/>
          <a:p>
            <a:fld id="{07CE569E-9B7C-4CB9-AB80-C0841F922CFF}" type="slidenum">
              <a:rPr lang="en-US" smtClean="0"/>
              <a:t>13</a:t>
            </a:fld>
            <a:endParaRPr lang="en-US"/>
          </a:p>
        </p:txBody>
      </p:sp>
    </p:spTree>
    <p:extLst>
      <p:ext uri="{BB962C8B-B14F-4D97-AF65-F5344CB8AC3E}">
        <p14:creationId xmlns:p14="http://schemas.microsoft.com/office/powerpoint/2010/main" val="3513239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9B8694-92EE-BC3C-0A0B-999DE23E4357}"/>
              </a:ext>
            </a:extLst>
          </p:cNvPr>
          <p:cNvSpPr>
            <a:spLocks noGrp="1"/>
          </p:cNvSpPr>
          <p:nvPr>
            <p:ph type="title"/>
          </p:nvPr>
        </p:nvSpPr>
        <p:spPr/>
        <p:txBody>
          <a:bodyPr/>
          <a:lstStyle/>
          <a:p>
            <a:r>
              <a:rPr lang="en-US" dirty="0"/>
              <a:t>Leaderboard – Verification (English)</a:t>
            </a:r>
            <a:endParaRPr lang="en-AT" dirty="0"/>
          </a:p>
        </p:txBody>
      </p:sp>
      <p:pic>
        <p:nvPicPr>
          <p:cNvPr id="5" name="Inhaltsplatzhalter 4">
            <a:extLst>
              <a:ext uri="{FF2B5EF4-FFF2-40B4-BE49-F238E27FC236}">
                <a16:creationId xmlns:a16="http://schemas.microsoft.com/office/drawing/2014/main" id="{55B49F26-860E-E490-7367-11B5F02043F5}"/>
              </a:ext>
            </a:extLst>
          </p:cNvPr>
          <p:cNvPicPr>
            <a:picLocks noGrp="1" noChangeAspect="1"/>
          </p:cNvPicPr>
          <p:nvPr>
            <p:ph idx="1"/>
          </p:nvPr>
        </p:nvPicPr>
        <p:blipFill>
          <a:blip r:embed="rId2"/>
          <a:stretch>
            <a:fillRect/>
          </a:stretch>
        </p:blipFill>
        <p:spPr>
          <a:xfrm>
            <a:off x="762000" y="2286000"/>
            <a:ext cx="9000000" cy="2950000"/>
          </a:xfrm>
        </p:spPr>
      </p:pic>
      <p:sp>
        <p:nvSpPr>
          <p:cNvPr id="3" name="Foliennummernplatzhalter 2">
            <a:extLst>
              <a:ext uri="{FF2B5EF4-FFF2-40B4-BE49-F238E27FC236}">
                <a16:creationId xmlns:a16="http://schemas.microsoft.com/office/drawing/2014/main" id="{48E1EB18-BEB1-8203-E390-9FBD5067F2C6}"/>
              </a:ext>
            </a:extLst>
          </p:cNvPr>
          <p:cNvSpPr>
            <a:spLocks noGrp="1"/>
          </p:cNvSpPr>
          <p:nvPr>
            <p:ph type="sldNum" sz="quarter" idx="12"/>
          </p:nvPr>
        </p:nvSpPr>
        <p:spPr/>
        <p:txBody>
          <a:bodyPr/>
          <a:lstStyle/>
          <a:p>
            <a:fld id="{07CE569E-9B7C-4CB9-AB80-C0841F922CFF}" type="slidenum">
              <a:rPr lang="en-US" smtClean="0"/>
              <a:t>14</a:t>
            </a:fld>
            <a:endParaRPr lang="en-US"/>
          </a:p>
        </p:txBody>
      </p:sp>
    </p:spTree>
    <p:extLst>
      <p:ext uri="{BB962C8B-B14F-4D97-AF65-F5344CB8AC3E}">
        <p14:creationId xmlns:p14="http://schemas.microsoft.com/office/powerpoint/2010/main" val="3513458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264009-C0C1-D513-C592-4CE071FB5C4D}"/>
              </a:ext>
            </a:extLst>
          </p:cNvPr>
          <p:cNvSpPr>
            <a:spLocks noGrp="1"/>
          </p:cNvSpPr>
          <p:nvPr>
            <p:ph type="title"/>
          </p:nvPr>
        </p:nvSpPr>
        <p:spPr/>
        <p:txBody>
          <a:bodyPr/>
          <a:lstStyle/>
          <a:p>
            <a:r>
              <a:rPr lang="en-US" dirty="0"/>
              <a:t>Key Findings – Retrieval Stage</a:t>
            </a:r>
            <a:endParaRPr lang="en-AT" dirty="0"/>
          </a:p>
        </p:txBody>
      </p:sp>
      <p:sp>
        <p:nvSpPr>
          <p:cNvPr id="3" name="Inhaltsplatzhalter 2">
            <a:extLst>
              <a:ext uri="{FF2B5EF4-FFF2-40B4-BE49-F238E27FC236}">
                <a16:creationId xmlns:a16="http://schemas.microsoft.com/office/drawing/2014/main" id="{46FEF9DC-DC0F-7E3C-04A2-6539D4E503FF}"/>
              </a:ext>
            </a:extLst>
          </p:cNvPr>
          <p:cNvSpPr>
            <a:spLocks noGrp="1"/>
          </p:cNvSpPr>
          <p:nvPr>
            <p:ph idx="1"/>
          </p:nvPr>
        </p:nvSpPr>
        <p:spPr/>
        <p:txBody>
          <a:bodyPr>
            <a:normAutofit fontScale="92500"/>
          </a:bodyPr>
          <a:lstStyle/>
          <a:p>
            <a:r>
              <a:rPr lang="en-US" dirty="0"/>
              <a:t>Best* performance via the Terrier implementation of PL2 with some stemming, etc. (divergence-from-randomness lexical method)</a:t>
            </a:r>
          </a:p>
          <a:p>
            <a:pPr lvl="1"/>
            <a:r>
              <a:rPr lang="en-US" dirty="0"/>
              <a:t>*at the time of submission</a:t>
            </a:r>
          </a:p>
          <a:p>
            <a:r>
              <a:rPr lang="en-US" dirty="0"/>
              <a:t>On average, using Terrier over OpenAI embeddings and cosine similarity yielded a Macro-F1 improvement of +0.0239</a:t>
            </a:r>
          </a:p>
          <a:p>
            <a:r>
              <a:rPr lang="en-US" dirty="0"/>
              <a:t>However, the performance gap is small – on the leaderboard, OpenAI embeddings were our best performing retriever method</a:t>
            </a:r>
          </a:p>
          <a:p>
            <a:endParaRPr lang="en-US" dirty="0"/>
          </a:p>
        </p:txBody>
      </p:sp>
      <p:sp>
        <p:nvSpPr>
          <p:cNvPr id="4" name="Foliennummernplatzhalter 3">
            <a:extLst>
              <a:ext uri="{FF2B5EF4-FFF2-40B4-BE49-F238E27FC236}">
                <a16:creationId xmlns:a16="http://schemas.microsoft.com/office/drawing/2014/main" id="{4F9B24DD-A52F-98BD-4C83-FB1A3CED2298}"/>
              </a:ext>
            </a:extLst>
          </p:cNvPr>
          <p:cNvSpPr>
            <a:spLocks noGrp="1"/>
          </p:cNvSpPr>
          <p:nvPr>
            <p:ph type="sldNum" sz="quarter" idx="12"/>
          </p:nvPr>
        </p:nvSpPr>
        <p:spPr/>
        <p:txBody>
          <a:bodyPr/>
          <a:lstStyle/>
          <a:p>
            <a:fld id="{07CE569E-9B7C-4CB9-AB80-C0841F922CFF}" type="slidenum">
              <a:rPr lang="en-US" smtClean="0"/>
              <a:t>15</a:t>
            </a:fld>
            <a:endParaRPr lang="en-US"/>
          </a:p>
        </p:txBody>
      </p:sp>
    </p:spTree>
    <p:extLst>
      <p:ext uri="{BB962C8B-B14F-4D97-AF65-F5344CB8AC3E}">
        <p14:creationId xmlns:p14="http://schemas.microsoft.com/office/powerpoint/2010/main" val="2435991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9B7906-421F-0713-A1D8-5D8B2D8F9D99}"/>
              </a:ext>
            </a:extLst>
          </p:cNvPr>
          <p:cNvSpPr>
            <a:spLocks noGrp="1"/>
          </p:cNvSpPr>
          <p:nvPr>
            <p:ph type="title"/>
          </p:nvPr>
        </p:nvSpPr>
        <p:spPr/>
        <p:txBody>
          <a:bodyPr/>
          <a:lstStyle/>
          <a:p>
            <a:r>
              <a:rPr lang="en-US" dirty="0"/>
              <a:t>Key Findings – Verification Stage</a:t>
            </a:r>
            <a:endParaRPr lang="en-AT" dirty="0"/>
          </a:p>
        </p:txBody>
      </p:sp>
      <p:sp>
        <p:nvSpPr>
          <p:cNvPr id="3" name="Inhaltsplatzhalter 2">
            <a:extLst>
              <a:ext uri="{FF2B5EF4-FFF2-40B4-BE49-F238E27FC236}">
                <a16:creationId xmlns:a16="http://schemas.microsoft.com/office/drawing/2014/main" id="{F8BEB83D-4571-B671-B069-BB5D0509E73F}"/>
              </a:ext>
            </a:extLst>
          </p:cNvPr>
          <p:cNvSpPr>
            <a:spLocks noGrp="1"/>
          </p:cNvSpPr>
          <p:nvPr>
            <p:ph idx="1"/>
          </p:nvPr>
        </p:nvSpPr>
        <p:spPr/>
        <p:txBody>
          <a:bodyPr>
            <a:normAutofit/>
          </a:bodyPr>
          <a:lstStyle/>
          <a:p>
            <a:r>
              <a:rPr lang="en-US" dirty="0"/>
              <a:t>LLMs are indeed capable of the inference step to determine </a:t>
            </a:r>
            <a:r>
              <a:rPr lang="en-US" u="sng" dirty="0"/>
              <a:t>support</a:t>
            </a:r>
            <a:r>
              <a:rPr lang="en-US" dirty="0"/>
              <a:t> or </a:t>
            </a:r>
            <a:r>
              <a:rPr lang="en-US" u="sng" dirty="0"/>
              <a:t>refutal</a:t>
            </a:r>
            <a:r>
              <a:rPr lang="en-US" dirty="0"/>
              <a:t> based on the claim-evidence pairing</a:t>
            </a:r>
          </a:p>
          <a:p>
            <a:r>
              <a:rPr lang="en-US" dirty="0"/>
              <a:t>BERT variants fine-tuned on NLI datasets did not generalize well to this task</a:t>
            </a:r>
          </a:p>
          <a:p>
            <a:r>
              <a:rPr lang="en-US" dirty="0"/>
              <a:t>GPT-4-Turbo was much more reliable &amp; performant than Llama3-70b (expected outcome)</a:t>
            </a:r>
            <a:endParaRPr lang="en-AT" dirty="0"/>
          </a:p>
        </p:txBody>
      </p:sp>
      <p:sp>
        <p:nvSpPr>
          <p:cNvPr id="4" name="Foliennummernplatzhalter 3">
            <a:extLst>
              <a:ext uri="{FF2B5EF4-FFF2-40B4-BE49-F238E27FC236}">
                <a16:creationId xmlns:a16="http://schemas.microsoft.com/office/drawing/2014/main" id="{C26A8302-0417-EAC1-44C1-8B33486D4B83}"/>
              </a:ext>
            </a:extLst>
          </p:cNvPr>
          <p:cNvSpPr>
            <a:spLocks noGrp="1"/>
          </p:cNvSpPr>
          <p:nvPr>
            <p:ph type="sldNum" sz="quarter" idx="12"/>
          </p:nvPr>
        </p:nvSpPr>
        <p:spPr/>
        <p:txBody>
          <a:bodyPr/>
          <a:lstStyle/>
          <a:p>
            <a:fld id="{07CE569E-9B7C-4CB9-AB80-C0841F922CFF}" type="slidenum">
              <a:rPr lang="en-US" smtClean="0"/>
              <a:t>16</a:t>
            </a:fld>
            <a:endParaRPr lang="en-US"/>
          </a:p>
        </p:txBody>
      </p:sp>
    </p:spTree>
    <p:extLst>
      <p:ext uri="{BB962C8B-B14F-4D97-AF65-F5344CB8AC3E}">
        <p14:creationId xmlns:p14="http://schemas.microsoft.com/office/powerpoint/2010/main" val="1946623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9B7906-421F-0713-A1D8-5D8B2D8F9D99}"/>
              </a:ext>
            </a:extLst>
          </p:cNvPr>
          <p:cNvSpPr>
            <a:spLocks noGrp="1"/>
          </p:cNvSpPr>
          <p:nvPr>
            <p:ph type="title"/>
          </p:nvPr>
        </p:nvSpPr>
        <p:spPr/>
        <p:txBody>
          <a:bodyPr/>
          <a:lstStyle/>
          <a:p>
            <a:r>
              <a:rPr lang="en-US" dirty="0"/>
              <a:t>Key Findings – Features</a:t>
            </a:r>
            <a:endParaRPr lang="en-AT" dirty="0"/>
          </a:p>
        </p:txBody>
      </p:sp>
      <p:sp>
        <p:nvSpPr>
          <p:cNvPr id="3" name="Inhaltsplatzhalter 2">
            <a:extLst>
              <a:ext uri="{FF2B5EF4-FFF2-40B4-BE49-F238E27FC236}">
                <a16:creationId xmlns:a16="http://schemas.microsoft.com/office/drawing/2014/main" id="{F8BEB83D-4571-B671-B069-BB5D0509E73F}"/>
              </a:ext>
            </a:extLst>
          </p:cNvPr>
          <p:cNvSpPr>
            <a:spLocks noGrp="1"/>
          </p:cNvSpPr>
          <p:nvPr>
            <p:ph idx="1"/>
          </p:nvPr>
        </p:nvSpPr>
        <p:spPr/>
        <p:txBody>
          <a:bodyPr/>
          <a:lstStyle/>
          <a:p>
            <a:r>
              <a:rPr lang="en-US" dirty="0"/>
              <a:t>In our experiments, the best settings were:</a:t>
            </a:r>
          </a:p>
          <a:p>
            <a:pPr lvl="1"/>
            <a:r>
              <a:rPr lang="en-US" u="sng" dirty="0"/>
              <a:t>NO preprocessing</a:t>
            </a:r>
            <a:r>
              <a:rPr lang="en-US" dirty="0"/>
              <a:t> done to claim and evidence</a:t>
            </a:r>
          </a:p>
          <a:p>
            <a:pPr lvl="1"/>
            <a:r>
              <a:rPr lang="en-US" u="sng" dirty="0"/>
              <a:t>NO additional author data</a:t>
            </a:r>
            <a:r>
              <a:rPr lang="en-US" dirty="0"/>
              <a:t> added to the evidence (display-name &amp; bio)</a:t>
            </a:r>
          </a:p>
          <a:p>
            <a:pPr lvl="1"/>
            <a:r>
              <a:rPr lang="en-US" dirty="0"/>
              <a:t>Giving a lot of weight to each piece of evidence was beneficial</a:t>
            </a:r>
          </a:p>
          <a:p>
            <a:pPr lvl="2"/>
            <a:r>
              <a:rPr lang="en-US" dirty="0"/>
              <a:t>(ignoring individual “NOT ENOUGH INFO” claim-evidence pairings in the overall rumor labelling decision, as the evidence was likely unrelated to the claim, and we always pass 5 pairings to the verification stage)</a:t>
            </a:r>
          </a:p>
          <a:p>
            <a:pPr lvl="1"/>
            <a:endParaRPr lang="en-US" dirty="0"/>
          </a:p>
        </p:txBody>
      </p:sp>
      <p:sp>
        <p:nvSpPr>
          <p:cNvPr id="4" name="Foliennummernplatzhalter 3">
            <a:extLst>
              <a:ext uri="{FF2B5EF4-FFF2-40B4-BE49-F238E27FC236}">
                <a16:creationId xmlns:a16="http://schemas.microsoft.com/office/drawing/2014/main" id="{7BD513CF-91D6-8FA3-429F-4407D15CC279}"/>
              </a:ext>
            </a:extLst>
          </p:cNvPr>
          <p:cNvSpPr>
            <a:spLocks noGrp="1"/>
          </p:cNvSpPr>
          <p:nvPr>
            <p:ph type="sldNum" sz="quarter" idx="12"/>
          </p:nvPr>
        </p:nvSpPr>
        <p:spPr/>
        <p:txBody>
          <a:bodyPr/>
          <a:lstStyle/>
          <a:p>
            <a:fld id="{07CE569E-9B7C-4CB9-AB80-C0841F922CFF}" type="slidenum">
              <a:rPr lang="en-US" smtClean="0"/>
              <a:t>17</a:t>
            </a:fld>
            <a:endParaRPr lang="en-US"/>
          </a:p>
        </p:txBody>
      </p:sp>
    </p:spTree>
    <p:extLst>
      <p:ext uri="{BB962C8B-B14F-4D97-AF65-F5344CB8AC3E}">
        <p14:creationId xmlns:p14="http://schemas.microsoft.com/office/powerpoint/2010/main" val="1526224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672334-8A7B-86AB-B0AA-9F7E808DFBF1}"/>
              </a:ext>
            </a:extLst>
          </p:cNvPr>
          <p:cNvSpPr>
            <a:spLocks noGrp="1"/>
          </p:cNvSpPr>
          <p:nvPr>
            <p:ph type="title"/>
          </p:nvPr>
        </p:nvSpPr>
        <p:spPr/>
        <p:txBody>
          <a:bodyPr/>
          <a:lstStyle/>
          <a:p>
            <a:r>
              <a:rPr lang="en-US" dirty="0"/>
              <a:t>Findings since Submission Deadline (1/2)</a:t>
            </a:r>
            <a:endParaRPr lang="en-AT" dirty="0"/>
          </a:p>
        </p:txBody>
      </p:sp>
      <p:sp>
        <p:nvSpPr>
          <p:cNvPr id="3" name="Inhaltsplatzhalter 2">
            <a:extLst>
              <a:ext uri="{FF2B5EF4-FFF2-40B4-BE49-F238E27FC236}">
                <a16:creationId xmlns:a16="http://schemas.microsoft.com/office/drawing/2014/main" id="{CDCB7790-68A6-7E4C-244B-B54D8C62F619}"/>
              </a:ext>
            </a:extLst>
          </p:cNvPr>
          <p:cNvSpPr>
            <a:spLocks noGrp="1"/>
          </p:cNvSpPr>
          <p:nvPr>
            <p:ph idx="1"/>
          </p:nvPr>
        </p:nvSpPr>
        <p:spPr/>
        <p:txBody>
          <a:bodyPr>
            <a:normAutofit fontScale="92500" lnSpcReduction="10000"/>
          </a:bodyPr>
          <a:lstStyle/>
          <a:p>
            <a:r>
              <a:rPr lang="en-US" dirty="0"/>
              <a:t>A capable enough LLM with correct temperature settings is stable and does not just happen to hallucinate the correct labels</a:t>
            </a:r>
          </a:p>
          <a:p>
            <a:r>
              <a:rPr lang="en-US" dirty="0"/>
              <a:t>A re-ranking pipeline of </a:t>
            </a:r>
          </a:p>
          <a:p>
            <a:pPr marL="0" indent="0">
              <a:buNone/>
            </a:pPr>
            <a:r>
              <a:rPr lang="en-US" dirty="0"/>
              <a:t>	BM25 &gt;&gt; (%top-50) &gt;&gt; NV-Retriever-V1 &gt;&gt;(%top-5)</a:t>
            </a:r>
          </a:p>
          <a:p>
            <a:pPr marL="0" indent="0">
              <a:buNone/>
            </a:pPr>
            <a:r>
              <a:rPr lang="en-US" dirty="0"/>
              <a:t>   performed very well for retrieval (0.71 R@5 on combined train &amp; dev)</a:t>
            </a:r>
          </a:p>
          <a:p>
            <a:r>
              <a:rPr lang="en-US" dirty="0"/>
              <a:t>In fact, this pipeline performed the best out of everything we tried later (lexical &amp; semantic methods)</a:t>
            </a:r>
          </a:p>
        </p:txBody>
      </p:sp>
      <p:sp>
        <p:nvSpPr>
          <p:cNvPr id="4" name="Foliennummernplatzhalter 3">
            <a:extLst>
              <a:ext uri="{FF2B5EF4-FFF2-40B4-BE49-F238E27FC236}">
                <a16:creationId xmlns:a16="http://schemas.microsoft.com/office/drawing/2014/main" id="{9DB5EBEE-EAAE-E081-5F5D-355E95253987}"/>
              </a:ext>
            </a:extLst>
          </p:cNvPr>
          <p:cNvSpPr>
            <a:spLocks noGrp="1"/>
          </p:cNvSpPr>
          <p:nvPr>
            <p:ph type="sldNum" sz="quarter" idx="12"/>
          </p:nvPr>
        </p:nvSpPr>
        <p:spPr/>
        <p:txBody>
          <a:bodyPr/>
          <a:lstStyle/>
          <a:p>
            <a:fld id="{07CE569E-9B7C-4CB9-AB80-C0841F922CFF}" type="slidenum">
              <a:rPr lang="en-US" smtClean="0"/>
              <a:t>18</a:t>
            </a:fld>
            <a:endParaRPr lang="en-US"/>
          </a:p>
        </p:txBody>
      </p:sp>
    </p:spTree>
    <p:extLst>
      <p:ext uri="{BB962C8B-B14F-4D97-AF65-F5344CB8AC3E}">
        <p14:creationId xmlns:p14="http://schemas.microsoft.com/office/powerpoint/2010/main" val="4014555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672334-8A7B-86AB-B0AA-9F7E808DFBF1}"/>
              </a:ext>
            </a:extLst>
          </p:cNvPr>
          <p:cNvSpPr>
            <a:spLocks noGrp="1"/>
          </p:cNvSpPr>
          <p:nvPr>
            <p:ph type="title"/>
          </p:nvPr>
        </p:nvSpPr>
        <p:spPr/>
        <p:txBody>
          <a:bodyPr/>
          <a:lstStyle/>
          <a:p>
            <a:r>
              <a:rPr lang="en-US" dirty="0"/>
              <a:t>Findings since Submission Deadline (2/2)</a:t>
            </a:r>
            <a:endParaRPr lang="en-AT" dirty="0"/>
          </a:p>
        </p:txBody>
      </p:sp>
      <p:sp>
        <p:nvSpPr>
          <p:cNvPr id="3" name="Inhaltsplatzhalter 2">
            <a:extLst>
              <a:ext uri="{FF2B5EF4-FFF2-40B4-BE49-F238E27FC236}">
                <a16:creationId xmlns:a16="http://schemas.microsoft.com/office/drawing/2014/main" id="{CDCB7790-68A6-7E4C-244B-B54D8C62F619}"/>
              </a:ext>
            </a:extLst>
          </p:cNvPr>
          <p:cNvSpPr>
            <a:spLocks noGrp="1"/>
          </p:cNvSpPr>
          <p:nvPr>
            <p:ph idx="1"/>
          </p:nvPr>
        </p:nvSpPr>
        <p:spPr/>
        <p:txBody>
          <a:bodyPr>
            <a:normAutofit/>
          </a:bodyPr>
          <a:lstStyle/>
          <a:p>
            <a:pPr marL="228600" indent="-228600" algn="l" rtl="0" eaLnBrk="1" latinLnBrk="0" hangingPunct="1">
              <a:lnSpc>
                <a:spcPct val="125000"/>
              </a:lnSpc>
              <a:spcBef>
                <a:spcPts val="1000"/>
              </a:spcBef>
              <a:spcAft>
                <a:spcPts val="0"/>
              </a:spcAft>
              <a:buClrTx/>
              <a:buSzPts val="2600"/>
              <a:buFont typeface="Arial" panose="020B0604020202020204" pitchFamily="34" charset="0"/>
              <a:buChar char="•"/>
            </a:pPr>
            <a:r>
              <a:rPr lang="en-US" sz="2600" kern="1200" dirty="0">
                <a:solidFill>
                  <a:srgbClr val="FFFFFF">
                    <a:alpha val="70000"/>
                  </a:srgbClr>
                </a:solidFill>
                <a:effectLst/>
                <a:latin typeface="Bahnschrift" panose="020B0502040204020203" pitchFamily="34" charset="0"/>
                <a:ea typeface="+mn-ea"/>
                <a:cs typeface="+mn-cs"/>
              </a:rPr>
              <a:t>The “weight class” of GPT-4o class of models is a good balance of capability &amp; cost (a bit better than Llama-3.1-70b)</a:t>
            </a:r>
            <a:endParaRPr lang="en-AT" sz="2600" dirty="0">
              <a:effectLst/>
            </a:endParaRPr>
          </a:p>
        </p:txBody>
      </p:sp>
      <p:sp>
        <p:nvSpPr>
          <p:cNvPr id="6" name="Textfeld 5">
            <a:extLst>
              <a:ext uri="{FF2B5EF4-FFF2-40B4-BE49-F238E27FC236}">
                <a16:creationId xmlns:a16="http://schemas.microsoft.com/office/drawing/2014/main" id="{C675C8A5-E25B-6340-2A8C-C58DCE55D929}"/>
              </a:ext>
            </a:extLst>
          </p:cNvPr>
          <p:cNvSpPr txBox="1"/>
          <p:nvPr/>
        </p:nvSpPr>
        <p:spPr>
          <a:xfrm>
            <a:off x="7437747" y="3943350"/>
            <a:ext cx="3992253" cy="1692771"/>
          </a:xfrm>
          <a:prstGeom prst="rect">
            <a:avLst/>
          </a:prstGeom>
          <a:noFill/>
        </p:spPr>
        <p:txBody>
          <a:bodyPr wrap="square" rtlCol="0">
            <a:spAutoFit/>
          </a:bodyPr>
          <a:lstStyle/>
          <a:p>
            <a:r>
              <a:rPr lang="en-US" sz="2600">
                <a:solidFill>
                  <a:srgbClr val="FFFFFF">
                    <a:alpha val="70000"/>
                  </a:srgbClr>
                </a:solidFill>
                <a:latin typeface="Bahnschrift" panose="020B0502040204020203" pitchFamily="34" charset="0"/>
              </a:rPr>
              <a:t>Verification experiment results </a:t>
            </a:r>
            <a:r>
              <a:rPr lang="en-US" sz="2600" dirty="0">
                <a:solidFill>
                  <a:srgbClr val="FFFFFF">
                    <a:alpha val="70000"/>
                  </a:srgbClr>
                </a:solidFill>
                <a:latin typeface="Bahnschrift" panose="020B0502040204020203" pitchFamily="34" charset="0"/>
              </a:rPr>
              <a:t>on the </a:t>
            </a:r>
            <a:br>
              <a:rPr lang="en-US" sz="2600" dirty="0">
                <a:solidFill>
                  <a:srgbClr val="FFFFFF">
                    <a:alpha val="70000"/>
                  </a:srgbClr>
                </a:solidFill>
                <a:latin typeface="Bahnschrift" panose="020B0502040204020203" pitchFamily="34" charset="0"/>
              </a:rPr>
            </a:br>
            <a:r>
              <a:rPr lang="en-US" sz="2600" dirty="0">
                <a:solidFill>
                  <a:srgbClr val="FFFFFF">
                    <a:alpha val="70000"/>
                  </a:srgbClr>
                </a:solidFill>
                <a:latin typeface="Bahnschrift" panose="020B0502040204020203" pitchFamily="34" charset="0"/>
              </a:rPr>
              <a:t>combined (train &amp; dev) dataset</a:t>
            </a:r>
            <a:endParaRPr lang="en-AT" sz="2600" dirty="0">
              <a:solidFill>
                <a:srgbClr val="FFFFFF">
                  <a:alpha val="70000"/>
                </a:srgbClr>
              </a:solidFill>
              <a:latin typeface="Bahnschrift" panose="020B0502040204020203" pitchFamily="34" charset="0"/>
            </a:endParaRPr>
          </a:p>
        </p:txBody>
      </p:sp>
      <p:pic>
        <p:nvPicPr>
          <p:cNvPr id="9" name="Grafik 8">
            <a:extLst>
              <a:ext uri="{FF2B5EF4-FFF2-40B4-BE49-F238E27FC236}">
                <a16:creationId xmlns:a16="http://schemas.microsoft.com/office/drawing/2014/main" id="{A477A834-0BE2-BC9F-042C-DDBA95026CB0}"/>
              </a:ext>
            </a:extLst>
          </p:cNvPr>
          <p:cNvPicPr>
            <a:picLocks noChangeAspect="1"/>
          </p:cNvPicPr>
          <p:nvPr/>
        </p:nvPicPr>
        <p:blipFill>
          <a:blip r:embed="rId3"/>
          <a:stretch>
            <a:fillRect/>
          </a:stretch>
        </p:blipFill>
        <p:spPr>
          <a:xfrm>
            <a:off x="124256" y="3725853"/>
            <a:ext cx="7192379" cy="2724530"/>
          </a:xfrm>
          <a:prstGeom prst="rect">
            <a:avLst/>
          </a:prstGeom>
        </p:spPr>
      </p:pic>
      <p:sp>
        <p:nvSpPr>
          <p:cNvPr id="4" name="Foliennummernplatzhalter 3">
            <a:extLst>
              <a:ext uri="{FF2B5EF4-FFF2-40B4-BE49-F238E27FC236}">
                <a16:creationId xmlns:a16="http://schemas.microsoft.com/office/drawing/2014/main" id="{FDD4F62A-C719-1DC7-6644-FA52B7626E76}"/>
              </a:ext>
            </a:extLst>
          </p:cNvPr>
          <p:cNvSpPr>
            <a:spLocks noGrp="1"/>
          </p:cNvSpPr>
          <p:nvPr>
            <p:ph type="sldNum" sz="quarter" idx="12"/>
          </p:nvPr>
        </p:nvSpPr>
        <p:spPr/>
        <p:txBody>
          <a:bodyPr/>
          <a:lstStyle/>
          <a:p>
            <a:fld id="{07CE569E-9B7C-4CB9-AB80-C0841F922CFF}" type="slidenum">
              <a:rPr lang="en-US" smtClean="0"/>
              <a:t>19</a:t>
            </a:fld>
            <a:endParaRPr lang="en-US"/>
          </a:p>
        </p:txBody>
      </p:sp>
    </p:spTree>
    <p:extLst>
      <p:ext uri="{BB962C8B-B14F-4D97-AF65-F5344CB8AC3E}">
        <p14:creationId xmlns:p14="http://schemas.microsoft.com/office/powerpoint/2010/main" val="4192862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7E124D-6686-D171-B660-434B8D439AFE}"/>
              </a:ext>
            </a:extLst>
          </p:cNvPr>
          <p:cNvSpPr>
            <a:spLocks noGrp="1"/>
          </p:cNvSpPr>
          <p:nvPr>
            <p:ph type="title"/>
          </p:nvPr>
        </p:nvSpPr>
        <p:spPr/>
        <p:txBody>
          <a:bodyPr/>
          <a:lstStyle/>
          <a:p>
            <a:r>
              <a:rPr lang="en-US" dirty="0"/>
              <a:t>Caveats &amp; Discussion</a:t>
            </a:r>
            <a:endParaRPr lang="en-AT" dirty="0"/>
          </a:p>
        </p:txBody>
      </p:sp>
      <p:sp>
        <p:nvSpPr>
          <p:cNvPr id="3" name="Inhaltsplatzhalter 2">
            <a:extLst>
              <a:ext uri="{FF2B5EF4-FFF2-40B4-BE49-F238E27FC236}">
                <a16:creationId xmlns:a16="http://schemas.microsoft.com/office/drawing/2014/main" id="{33FE4755-F738-C23A-14F7-150EC5FBE8B1}"/>
              </a:ext>
            </a:extLst>
          </p:cNvPr>
          <p:cNvSpPr>
            <a:spLocks noGrp="1"/>
          </p:cNvSpPr>
          <p:nvPr>
            <p:ph idx="1"/>
          </p:nvPr>
        </p:nvSpPr>
        <p:spPr/>
        <p:txBody>
          <a:bodyPr>
            <a:normAutofit fontScale="85000" lnSpcReduction="10000"/>
          </a:bodyPr>
          <a:lstStyle/>
          <a:p>
            <a:r>
              <a:rPr lang="en-US" dirty="0"/>
              <a:t>LLMs-as-a-Service are subject to </a:t>
            </a:r>
            <a:r>
              <a:rPr lang="en-US" u="sng" dirty="0"/>
              <a:t>proprietary moderation</a:t>
            </a:r>
            <a:r>
              <a:rPr lang="en-US" dirty="0"/>
              <a:t> (and sensitive topics are to be expected when dealing with rumors)</a:t>
            </a:r>
          </a:p>
          <a:p>
            <a:pPr lvl="1"/>
            <a:r>
              <a:rPr lang="en-US" dirty="0"/>
              <a:t>Ideally, you would use your own models, and fine-tune them continually on real data</a:t>
            </a:r>
          </a:p>
          <a:p>
            <a:r>
              <a:rPr lang="en-US" u="sng" dirty="0"/>
              <a:t>Scalability</a:t>
            </a:r>
            <a:r>
              <a:rPr lang="en-US" dirty="0"/>
              <a:t> would require trade-offs</a:t>
            </a:r>
          </a:p>
          <a:p>
            <a:r>
              <a:rPr lang="en-US" dirty="0"/>
              <a:t>This Lab task did not cover </a:t>
            </a:r>
            <a:r>
              <a:rPr lang="en-US" u="sng" dirty="0"/>
              <a:t>finding the authority account timelines</a:t>
            </a:r>
            <a:r>
              <a:rPr lang="en-US" dirty="0"/>
              <a:t> our system relies on – this is an entirely separate task</a:t>
            </a:r>
          </a:p>
          <a:p>
            <a:r>
              <a:rPr lang="en-US" u="sng" dirty="0"/>
              <a:t>Multimodality</a:t>
            </a:r>
            <a:r>
              <a:rPr lang="en-US" dirty="0"/>
              <a:t> – we did not use images &amp; video content in our approach, though this could be integrated given the multimodal models today</a:t>
            </a:r>
            <a:endParaRPr lang="en-AT" dirty="0"/>
          </a:p>
        </p:txBody>
      </p:sp>
      <p:sp>
        <p:nvSpPr>
          <p:cNvPr id="4" name="Foliennummernplatzhalter 3">
            <a:extLst>
              <a:ext uri="{FF2B5EF4-FFF2-40B4-BE49-F238E27FC236}">
                <a16:creationId xmlns:a16="http://schemas.microsoft.com/office/drawing/2014/main" id="{05E4B41F-CC43-86FB-0172-832EF921C0FE}"/>
              </a:ext>
            </a:extLst>
          </p:cNvPr>
          <p:cNvSpPr>
            <a:spLocks noGrp="1"/>
          </p:cNvSpPr>
          <p:nvPr>
            <p:ph type="sldNum" sz="quarter" idx="12"/>
          </p:nvPr>
        </p:nvSpPr>
        <p:spPr/>
        <p:txBody>
          <a:bodyPr/>
          <a:lstStyle/>
          <a:p>
            <a:fld id="{07CE569E-9B7C-4CB9-AB80-C0841F922CFF}" type="slidenum">
              <a:rPr lang="en-US" smtClean="0"/>
              <a:t>20</a:t>
            </a:fld>
            <a:endParaRPr lang="en-US"/>
          </a:p>
        </p:txBody>
      </p:sp>
    </p:spTree>
    <p:extLst>
      <p:ext uri="{BB962C8B-B14F-4D97-AF65-F5344CB8AC3E}">
        <p14:creationId xmlns:p14="http://schemas.microsoft.com/office/powerpoint/2010/main" val="2943179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7E124D-6686-D171-B660-434B8D439AFE}"/>
              </a:ext>
            </a:extLst>
          </p:cNvPr>
          <p:cNvSpPr>
            <a:spLocks noGrp="1"/>
          </p:cNvSpPr>
          <p:nvPr>
            <p:ph type="title"/>
          </p:nvPr>
        </p:nvSpPr>
        <p:spPr/>
        <p:txBody>
          <a:bodyPr/>
          <a:lstStyle/>
          <a:p>
            <a:r>
              <a:rPr lang="en-US" dirty="0"/>
              <a:t>Potential for Future Work</a:t>
            </a:r>
            <a:endParaRPr lang="en-AT" dirty="0"/>
          </a:p>
        </p:txBody>
      </p:sp>
      <p:sp>
        <p:nvSpPr>
          <p:cNvPr id="3" name="Inhaltsplatzhalter 2">
            <a:extLst>
              <a:ext uri="{FF2B5EF4-FFF2-40B4-BE49-F238E27FC236}">
                <a16:creationId xmlns:a16="http://schemas.microsoft.com/office/drawing/2014/main" id="{33FE4755-F738-C23A-14F7-150EC5FBE8B1}"/>
              </a:ext>
            </a:extLst>
          </p:cNvPr>
          <p:cNvSpPr>
            <a:spLocks noGrp="1"/>
          </p:cNvSpPr>
          <p:nvPr>
            <p:ph idx="1"/>
          </p:nvPr>
        </p:nvSpPr>
        <p:spPr/>
        <p:txBody>
          <a:bodyPr>
            <a:normAutofit fontScale="92500" lnSpcReduction="10000"/>
          </a:bodyPr>
          <a:lstStyle/>
          <a:p>
            <a:r>
              <a:rPr lang="en-US" dirty="0"/>
              <a:t>Multimodality</a:t>
            </a:r>
          </a:p>
          <a:p>
            <a:r>
              <a:rPr lang="en-US" dirty="0"/>
              <a:t>Multilingualism</a:t>
            </a:r>
          </a:p>
          <a:p>
            <a:r>
              <a:rPr lang="en-US" dirty="0"/>
              <a:t>Integration of more “meta-data” (for example: social graph, or interactions between claim and evidence – was the evidence a response/quote-tweet, or none of these?)</a:t>
            </a:r>
          </a:p>
          <a:p>
            <a:r>
              <a:rPr lang="en-US" dirty="0"/>
              <a:t>If we’re already using LLMs – </a:t>
            </a:r>
            <a:r>
              <a:rPr lang="en-US" u="sng" dirty="0"/>
              <a:t>explainability</a:t>
            </a:r>
            <a:r>
              <a:rPr lang="en-US" dirty="0"/>
              <a:t>! (via generation of “justifications”) </a:t>
            </a:r>
            <a:endParaRPr lang="en-AT" dirty="0"/>
          </a:p>
        </p:txBody>
      </p:sp>
      <p:sp>
        <p:nvSpPr>
          <p:cNvPr id="4" name="Foliennummernplatzhalter 3">
            <a:extLst>
              <a:ext uri="{FF2B5EF4-FFF2-40B4-BE49-F238E27FC236}">
                <a16:creationId xmlns:a16="http://schemas.microsoft.com/office/drawing/2014/main" id="{D8392614-E8AC-65F2-3F3E-79A1193DF5F3}"/>
              </a:ext>
            </a:extLst>
          </p:cNvPr>
          <p:cNvSpPr>
            <a:spLocks noGrp="1"/>
          </p:cNvSpPr>
          <p:nvPr>
            <p:ph type="sldNum" sz="quarter" idx="12"/>
          </p:nvPr>
        </p:nvSpPr>
        <p:spPr/>
        <p:txBody>
          <a:bodyPr/>
          <a:lstStyle/>
          <a:p>
            <a:fld id="{07CE569E-9B7C-4CB9-AB80-C0841F922CFF}" type="slidenum">
              <a:rPr lang="en-US" smtClean="0"/>
              <a:t>21</a:t>
            </a:fld>
            <a:endParaRPr lang="en-US"/>
          </a:p>
        </p:txBody>
      </p:sp>
    </p:spTree>
    <p:extLst>
      <p:ext uri="{BB962C8B-B14F-4D97-AF65-F5344CB8AC3E}">
        <p14:creationId xmlns:p14="http://schemas.microsoft.com/office/powerpoint/2010/main" val="2056689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089D1D-5B42-BE8B-2604-737AB5FF638D}"/>
              </a:ext>
            </a:extLst>
          </p:cNvPr>
          <p:cNvSpPr>
            <a:spLocks noGrp="1"/>
          </p:cNvSpPr>
          <p:nvPr>
            <p:ph type="title"/>
          </p:nvPr>
        </p:nvSpPr>
        <p:spPr/>
        <p:txBody>
          <a:bodyPr/>
          <a:lstStyle/>
          <a:p>
            <a:r>
              <a:rPr lang="en-US" dirty="0"/>
              <a:t>Conclusion</a:t>
            </a:r>
            <a:endParaRPr lang="en-AT" dirty="0"/>
          </a:p>
        </p:txBody>
      </p:sp>
      <p:sp>
        <p:nvSpPr>
          <p:cNvPr id="3" name="Inhaltsplatzhalter 2">
            <a:extLst>
              <a:ext uri="{FF2B5EF4-FFF2-40B4-BE49-F238E27FC236}">
                <a16:creationId xmlns:a16="http://schemas.microsoft.com/office/drawing/2014/main" id="{D47FB7D6-3920-28B9-DCCD-6F102561B66F}"/>
              </a:ext>
            </a:extLst>
          </p:cNvPr>
          <p:cNvSpPr>
            <a:spLocks noGrp="1"/>
          </p:cNvSpPr>
          <p:nvPr>
            <p:ph idx="1"/>
          </p:nvPr>
        </p:nvSpPr>
        <p:spPr/>
        <p:txBody>
          <a:bodyPr/>
          <a:lstStyle/>
          <a:p>
            <a:r>
              <a:rPr lang="en-US" dirty="0"/>
              <a:t>We submitted the best performing system to the</a:t>
            </a:r>
            <a:br>
              <a:rPr lang="en-US" dirty="0"/>
            </a:br>
            <a:r>
              <a:rPr lang="en-US" dirty="0"/>
              <a:t>CheckThat! Lab Task 5 (English)</a:t>
            </a:r>
          </a:p>
          <a:p>
            <a:r>
              <a:rPr lang="en-US" dirty="0"/>
              <a:t>LLMs can work as powerful language inference agents</a:t>
            </a:r>
          </a:p>
          <a:p>
            <a:r>
              <a:rPr lang="en-US" dirty="0"/>
              <a:t>There is already plenty of distrust in AI (especially LLMs) today! Science communication is important to build trust in systems like this</a:t>
            </a:r>
            <a:endParaRPr lang="en-AT" dirty="0"/>
          </a:p>
        </p:txBody>
      </p:sp>
      <p:sp>
        <p:nvSpPr>
          <p:cNvPr id="4" name="Foliennummernplatzhalter 3">
            <a:extLst>
              <a:ext uri="{FF2B5EF4-FFF2-40B4-BE49-F238E27FC236}">
                <a16:creationId xmlns:a16="http://schemas.microsoft.com/office/drawing/2014/main" id="{8ACA9B8B-6AF1-5649-E402-F77487DEA390}"/>
              </a:ext>
            </a:extLst>
          </p:cNvPr>
          <p:cNvSpPr>
            <a:spLocks noGrp="1"/>
          </p:cNvSpPr>
          <p:nvPr>
            <p:ph type="sldNum" sz="quarter" idx="12"/>
          </p:nvPr>
        </p:nvSpPr>
        <p:spPr/>
        <p:txBody>
          <a:bodyPr/>
          <a:lstStyle/>
          <a:p>
            <a:fld id="{07CE569E-9B7C-4CB9-AB80-C0841F922CFF}" type="slidenum">
              <a:rPr lang="en-US" smtClean="0"/>
              <a:t>22</a:t>
            </a:fld>
            <a:endParaRPr lang="en-US"/>
          </a:p>
        </p:txBody>
      </p:sp>
    </p:spTree>
    <p:extLst>
      <p:ext uri="{BB962C8B-B14F-4D97-AF65-F5344CB8AC3E}">
        <p14:creationId xmlns:p14="http://schemas.microsoft.com/office/powerpoint/2010/main" val="4811984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883CE4-B702-9301-C665-C692F6BDE2C7}"/>
              </a:ext>
            </a:extLst>
          </p:cNvPr>
          <p:cNvSpPr>
            <a:spLocks noGrp="1"/>
          </p:cNvSpPr>
          <p:nvPr>
            <p:ph type="title"/>
          </p:nvPr>
        </p:nvSpPr>
        <p:spPr>
          <a:xfrm>
            <a:off x="2006258" y="761999"/>
            <a:ext cx="10668000" cy="1524000"/>
          </a:xfrm>
        </p:spPr>
        <p:txBody>
          <a:bodyPr/>
          <a:lstStyle/>
          <a:p>
            <a:pPr algn="ctr"/>
            <a:r>
              <a:rPr lang="en-US" dirty="0"/>
              <a:t>Thank you! Questions?</a:t>
            </a:r>
            <a:endParaRPr lang="en-AT" dirty="0"/>
          </a:p>
        </p:txBody>
      </p:sp>
      <p:pic>
        <p:nvPicPr>
          <p:cNvPr id="3" name="Graphic 5" descr="Handschlag">
            <a:extLst>
              <a:ext uri="{FF2B5EF4-FFF2-40B4-BE49-F238E27FC236}">
                <a16:creationId xmlns:a16="http://schemas.microsoft.com/office/drawing/2014/main" id="{2911F561-5F86-5A61-19F4-B827D7D00C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65629" y="1761797"/>
            <a:ext cx="3149258" cy="3149258"/>
          </a:xfrm>
          <a:prstGeom prst="rect">
            <a:avLst/>
          </a:prstGeom>
        </p:spPr>
      </p:pic>
      <p:sp>
        <p:nvSpPr>
          <p:cNvPr id="4" name="Textfeld 3">
            <a:extLst>
              <a:ext uri="{FF2B5EF4-FFF2-40B4-BE49-F238E27FC236}">
                <a16:creationId xmlns:a16="http://schemas.microsoft.com/office/drawing/2014/main" id="{1F873D84-07A8-92B9-BD3D-67A7DCD1FFA5}"/>
              </a:ext>
            </a:extLst>
          </p:cNvPr>
          <p:cNvSpPr txBox="1"/>
          <p:nvPr/>
        </p:nvSpPr>
        <p:spPr>
          <a:xfrm>
            <a:off x="26081" y="2957841"/>
            <a:ext cx="3495676" cy="523220"/>
          </a:xfrm>
          <a:prstGeom prst="rect">
            <a:avLst/>
          </a:prstGeom>
          <a:noFill/>
        </p:spPr>
        <p:txBody>
          <a:bodyPr wrap="square" rtlCol="0">
            <a:spAutoFit/>
          </a:bodyPr>
          <a:lstStyle/>
          <a:p>
            <a:pPr algn="ctr"/>
            <a:r>
              <a:rPr lang="en-US" sz="2800" dirty="0"/>
              <a:t>Slides on GitHub ⬇️</a:t>
            </a:r>
          </a:p>
        </p:txBody>
      </p:sp>
      <p:sp>
        <p:nvSpPr>
          <p:cNvPr id="5" name="Textfeld 4">
            <a:extLst>
              <a:ext uri="{FF2B5EF4-FFF2-40B4-BE49-F238E27FC236}">
                <a16:creationId xmlns:a16="http://schemas.microsoft.com/office/drawing/2014/main" id="{8C8F5E0A-6B9B-82B4-E73A-5E5EFA11E80A}"/>
              </a:ext>
            </a:extLst>
          </p:cNvPr>
          <p:cNvSpPr txBox="1"/>
          <p:nvPr/>
        </p:nvSpPr>
        <p:spPr>
          <a:xfrm>
            <a:off x="5312788" y="4915227"/>
            <a:ext cx="4445448" cy="523220"/>
          </a:xfrm>
          <a:prstGeom prst="rect">
            <a:avLst/>
          </a:prstGeom>
          <a:noFill/>
        </p:spPr>
        <p:txBody>
          <a:bodyPr wrap="none" rtlCol="0">
            <a:spAutoFit/>
          </a:bodyPr>
          <a:lstStyle/>
          <a:p>
            <a:r>
              <a:rPr lang="en-US" sz="2800" dirty="0"/>
              <a:t>Contact Info at </a:t>
            </a:r>
            <a:r>
              <a:rPr lang="en-US" sz="2800" dirty="0">
                <a:hlinkClick r:id="rId4"/>
              </a:rPr>
              <a:t>luiskolb.at</a:t>
            </a:r>
            <a:r>
              <a:rPr lang="en-US" sz="2800" dirty="0"/>
              <a:t>  </a:t>
            </a:r>
          </a:p>
        </p:txBody>
      </p:sp>
      <p:pic>
        <p:nvPicPr>
          <p:cNvPr id="8194" name="Picture 2" descr="QR Code Image">
            <a:extLst>
              <a:ext uri="{FF2B5EF4-FFF2-40B4-BE49-F238E27FC236}">
                <a16:creationId xmlns:a16="http://schemas.microsoft.com/office/drawing/2014/main" id="{247F8790-7943-6319-AAC6-0AC57E81DA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209549" y="3638549"/>
            <a:ext cx="3076576" cy="3076576"/>
          </a:xfrm>
          <a:prstGeom prst="rect">
            <a:avLst/>
          </a:prstGeom>
          <a:noFill/>
          <a:extLst>
            <a:ext uri="{909E8E84-426E-40DD-AFC4-6F175D3DCCD1}">
              <a14:hiddenFill xmlns:a14="http://schemas.microsoft.com/office/drawing/2010/main">
                <a:solidFill>
                  <a:srgbClr val="FFFFFF"/>
                </a:solidFill>
              </a14:hiddenFill>
            </a:ext>
          </a:extLst>
        </p:spPr>
      </p:pic>
      <p:sp>
        <p:nvSpPr>
          <p:cNvPr id="6" name="Foliennummernplatzhalter 5">
            <a:extLst>
              <a:ext uri="{FF2B5EF4-FFF2-40B4-BE49-F238E27FC236}">
                <a16:creationId xmlns:a16="http://schemas.microsoft.com/office/drawing/2014/main" id="{53E7D928-EE99-E631-C428-5F75374632CB}"/>
              </a:ext>
            </a:extLst>
          </p:cNvPr>
          <p:cNvSpPr>
            <a:spLocks noGrp="1"/>
          </p:cNvSpPr>
          <p:nvPr>
            <p:ph type="sldNum" sz="quarter" idx="12"/>
          </p:nvPr>
        </p:nvSpPr>
        <p:spPr/>
        <p:txBody>
          <a:bodyPr/>
          <a:lstStyle/>
          <a:p>
            <a:fld id="{07CE569E-9B7C-4CB9-AB80-C0841F922CFF}" type="slidenum">
              <a:rPr lang="en-US" smtClean="0"/>
              <a:t>23</a:t>
            </a:fld>
            <a:endParaRPr lang="en-US"/>
          </a:p>
        </p:txBody>
      </p:sp>
    </p:spTree>
    <p:extLst>
      <p:ext uri="{BB962C8B-B14F-4D97-AF65-F5344CB8AC3E}">
        <p14:creationId xmlns:p14="http://schemas.microsoft.com/office/powerpoint/2010/main" val="4052043256"/>
      </p:ext>
    </p:extLst>
  </p:cSld>
  <p:clrMapOvr>
    <a:masterClrMapping/>
  </p:clrMapOvr>
</p:sld>
</file>

<file path=ppt/theme/theme1.xml><?xml version="1.0" encoding="utf-8"?>
<a:theme xmlns:a="http://schemas.openxmlformats.org/drawingml/2006/main" name="PebbleVTI">
  <a:themeElements>
    <a:clrScheme name="Blush 3">
      <a:dk1>
        <a:sysClr val="windowText" lastClr="000000"/>
      </a:dk1>
      <a:lt1>
        <a:sysClr val="window" lastClr="FFFFFF"/>
      </a:lt1>
      <a:dk2>
        <a:srgbClr val="B15E4E"/>
      </a:dk2>
      <a:lt2>
        <a:srgbClr val="FFFFFF"/>
      </a:lt2>
      <a:accent1>
        <a:srgbClr val="C5B096"/>
      </a:accent1>
      <a:accent2>
        <a:srgbClr val="ECA855"/>
      </a:accent2>
      <a:accent3>
        <a:srgbClr val="9BBFB0"/>
      </a:accent3>
      <a:accent4>
        <a:srgbClr val="A9AEA7"/>
      </a:accent4>
      <a:accent5>
        <a:srgbClr val="6A787C"/>
      </a:accent5>
      <a:accent6>
        <a:srgbClr val="3B4345"/>
      </a:accent6>
      <a:hlink>
        <a:srgbClr val="ECA855"/>
      </a:hlink>
      <a:folHlink>
        <a:srgbClr val="6A392F"/>
      </a:folHlink>
    </a:clrScheme>
    <a:fontScheme name="Benutzerdefiniert 2">
      <a:majorFont>
        <a:latin typeface="Bahnschrift"/>
        <a:ea typeface=""/>
        <a:cs typeface=""/>
      </a:majorFont>
      <a:minorFont>
        <a:latin typeface="Bahnschrif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1202</Words>
  <Application>Microsoft Office PowerPoint</Application>
  <PresentationFormat>Breitbild</PresentationFormat>
  <Paragraphs>131</Paragraphs>
  <Slides>23</Slides>
  <Notes>8</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23</vt:i4>
      </vt:variant>
    </vt:vector>
  </HeadingPairs>
  <TitlesOfParts>
    <vt:vector size="30" baseType="lpstr">
      <vt:lpstr>Aptos</vt:lpstr>
      <vt:lpstr>Arial</vt:lpstr>
      <vt:lpstr>Avenir Next LT Pro</vt:lpstr>
      <vt:lpstr>Avenir Next LT Pro Light</vt:lpstr>
      <vt:lpstr>Bahnschrift</vt:lpstr>
      <vt:lpstr>Wingdings</vt:lpstr>
      <vt:lpstr>PebbleVTI</vt:lpstr>
      <vt:lpstr>AuthEv-LKolb at CheckThat! 2024 Task 5  A Two-Stage Approach To Evidence-Based Social Media Claim Verification</vt:lpstr>
      <vt:lpstr>Briefly, an Overview</vt:lpstr>
      <vt:lpstr>Our Two-Stage Approach (and task recap)</vt:lpstr>
      <vt:lpstr>Our Two-Stage Approach (and task recap)</vt:lpstr>
      <vt:lpstr>Let‘s look at an example</vt:lpstr>
      <vt:lpstr>Let‘s look at an example</vt:lpstr>
      <vt:lpstr>Our Two-Stage Approach</vt:lpstr>
      <vt:lpstr>Retrieval Stage – Goals and Approach</vt:lpstr>
      <vt:lpstr>Our Two-Stage Approach</vt:lpstr>
      <vt:lpstr>Verification Stage – Strategy and Models</vt:lpstr>
      <vt:lpstr>Our Two-Stage Approach</vt:lpstr>
      <vt:lpstr>Performance Metrics (CheckThat! Task 5)</vt:lpstr>
      <vt:lpstr>Leaderboard – Retrieval (English)</vt:lpstr>
      <vt:lpstr>Leaderboard – Verification (English)</vt:lpstr>
      <vt:lpstr>Key Findings – Retrieval Stage</vt:lpstr>
      <vt:lpstr>Key Findings – Verification Stage</vt:lpstr>
      <vt:lpstr>Key Findings – Features</vt:lpstr>
      <vt:lpstr>Findings since Submission Deadline (1/2)</vt:lpstr>
      <vt:lpstr>Findings since Submission Deadline (2/2)</vt:lpstr>
      <vt:lpstr>Caveats &amp; Discussion</vt:lpstr>
      <vt:lpstr>Potential for Future Work</vt:lpstr>
      <vt:lpstr>Conclusion</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Luis Kolb</dc:creator>
  <cp:lastModifiedBy>Luis Kolb</cp:lastModifiedBy>
  <cp:revision>39</cp:revision>
  <dcterms:created xsi:type="dcterms:W3CDTF">2024-08-28T18:03:33Z</dcterms:created>
  <dcterms:modified xsi:type="dcterms:W3CDTF">2024-09-04T16:50:36Z</dcterms:modified>
</cp:coreProperties>
</file>